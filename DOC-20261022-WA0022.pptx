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7569200" cy="10693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928370" y="3060700"/>
            <a:ext cx="5754370" cy="1905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928370" y="4691380"/>
            <a:ext cx="5754370" cy="1905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928370" y="6877050"/>
            <a:ext cx="5754370" cy="1905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flipH="false" flipV="false" rot="0">
            <a:off x="-5080" y="671830"/>
            <a:ext cx="19050" cy="8839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>
            <a:off x="2661920" y="1443990"/>
            <a:ext cx="2330450" cy="43561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8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650" b="true" baseline="0" spc="-41">
                <a:solidFill>
                  <a:srgbClr val="151515"/>
                </a:solidFill>
                <a:latin typeface="Times New Roman"/>
              </a:rPr>
              <a:t>SlMATS ENGINEERING</a:t>
            </a:r>
            <a:endParaRPr lang="en-US" sz="1100"/>
          </a:p>
          <a:p>
            <a:pPr marL="252730" marR="0" indent="0" hangingPunct="false" algn="l">
              <a:lnSpc>
                <a:spcPts val="1500"/>
              </a:lnSpc>
              <a:spcBef>
                <a:spcPts val="110"/>
              </a:spcBef>
              <a:spcAft>
                <a:spcPct val="0"/>
              </a:spcAft>
            </a:pPr>
            <a:r>
              <a:rPr lang="en-US" sz="1350" b="true" baseline="0" spc="-33">
                <a:solidFill>
                  <a:srgbClr val="242424"/>
                </a:solidFill>
                <a:latin typeface="Times New Roman"/>
              </a:rPr>
              <a:t>ASSESSMENT </a:t>
            </a:r>
            <a:r>
              <a:rPr lang="en-US" sz="1350" b="true" baseline="0" spc="0">
                <a:solidFill>
                  <a:srgbClr val="151515"/>
                </a:solidFill>
                <a:latin typeface="Times New Roman"/>
              </a:rPr>
              <a:t>TOOL 1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938530" y="2369820"/>
            <a:ext cx="123571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1">
                <a:solidFill>
                  <a:srgbClr val="242424"/>
                </a:solidFill>
                <a:latin typeface="Arial"/>
              </a:rPr>
              <a:t>COURSE </a:t>
            </a:r>
            <a:r>
              <a:rPr lang="en-US" sz="1200" b="true" baseline="0" spc="30">
                <a:solidFill>
                  <a:srgbClr val="151515"/>
                </a:solidFill>
                <a:latin typeface="Arial"/>
              </a:rPr>
              <a:t>NAME:​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2299970" y="2369820"/>
            <a:ext cx="153289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30">
                <a:solidFill>
                  <a:srgbClr val="151515"/>
                </a:solidFill>
                <a:latin typeface="Arial"/>
              </a:rPr>
              <a:t>Artificial </a:t>
            </a:r>
            <a:r>
              <a:rPr lang="en-US" sz="1200" b="true" baseline="0" spc="30">
                <a:solidFill>
                  <a:srgbClr val="010101"/>
                </a:solidFill>
                <a:latin typeface="Arial"/>
              </a:rPr>
              <a:t>Intelligence​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4634230" y="2369820"/>
            <a:ext cx="171831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4">
                <a:solidFill>
                  <a:srgbClr val="151515"/>
                </a:solidFill>
                <a:latin typeface="Arial"/>
              </a:rPr>
              <a:t>COURSE CODE: </a:t>
            </a:r>
            <a:r>
              <a:rPr lang="en-US" sz="1200" b="true" baseline="0" spc="6">
                <a:solidFill>
                  <a:srgbClr val="242424"/>
                </a:solidFill>
                <a:latin typeface="Arial"/>
              </a:rPr>
              <a:t>CSA17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929640" y="3403600"/>
            <a:ext cx="5593080" cy="11163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889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1">
                <a:solidFill>
                  <a:srgbClr val="242424"/>
                </a:solidFill>
                <a:latin typeface="Arial"/>
              </a:rPr>
              <a:t>COURSE </a:t>
            </a:r>
            <a:r>
              <a:rPr lang="en-US" sz="1200" b="true" baseline="0" spc="-5">
                <a:solidFill>
                  <a:srgbClr val="151515"/>
                </a:solidFill>
                <a:latin typeface="Arial"/>
              </a:rPr>
              <a:t>OUTCOME </a:t>
            </a:r>
            <a:r>
              <a:rPr lang="en-US" sz="1200" b="true" baseline="0" spc="1">
                <a:solidFill>
                  <a:srgbClr val="242424"/>
                </a:solidFill>
                <a:latin typeface="Arial"/>
              </a:rPr>
              <a:t>COVERED</a:t>
            </a:r>
            <a:endParaRPr lang="en-US" sz="1100"/>
          </a:p>
          <a:p>
            <a:pPr marL="8890" marR="0" indent="0" hangingPunct="false" algn="l">
              <a:lnSpc>
                <a:spcPts val="1340"/>
              </a:lnSpc>
              <a:spcBef>
                <a:spcPts val="1600"/>
              </a:spcBef>
              <a:spcAft>
                <a:spcPct val="0"/>
              </a:spcAft>
            </a:pPr>
            <a:r>
              <a:rPr lang="en-US" sz="1150" b="true" i="true" baseline="0" spc="9">
                <a:solidFill>
                  <a:srgbClr val="242424"/>
                </a:solidFill>
                <a:latin typeface="Arial"/>
              </a:rPr>
              <a:t>C01: </a:t>
            </a:r>
            <a:r>
              <a:rPr lang="en-US" sz="1200" baseline="0" spc="-30">
                <a:solidFill>
                  <a:srgbClr val="3D3D3D"/>
                </a:solidFill>
                <a:latin typeface="Arial"/>
              </a:rPr>
              <a:t>Apply Al basics such as </a:t>
            </a:r>
            <a:r>
              <a:rPr lang="en-US" sz="1200" baseline="0" spc="-30">
                <a:solidFill>
                  <a:srgbClr val="151515"/>
                </a:solidFill>
                <a:latin typeface="Arial"/>
              </a:rPr>
              <a:t>i</a:t>
            </a:r>
            <a:r>
              <a:rPr lang="en-US" sz="1200" baseline="0" spc="-30">
                <a:solidFill>
                  <a:srgbClr val="545454"/>
                </a:solidFill>
                <a:latin typeface="Arial"/>
              </a:rPr>
              <a:t>ntell</a:t>
            </a:r>
            <a:r>
              <a:rPr lang="en-US" sz="1200" baseline="0" spc="-30">
                <a:solidFill>
                  <a:srgbClr val="151515"/>
                </a:solidFill>
                <a:latin typeface="Arial"/>
              </a:rPr>
              <a:t>i</a:t>
            </a:r>
            <a:r>
              <a:rPr lang="en-US" sz="1200" baseline="0" spc="-15">
                <a:solidFill>
                  <a:srgbClr val="3D3D3D"/>
                </a:solidFill>
                <a:latin typeface="Arial"/>
              </a:rPr>
              <a:t>gent agents and </a:t>
            </a:r>
            <a:r>
              <a:rPr lang="en-US" sz="1200" baseline="0" spc="-30">
                <a:solidFill>
                  <a:srgbClr val="242424"/>
                </a:solidFill>
                <a:latin typeface="Arial"/>
              </a:rPr>
              <a:t>u</a:t>
            </a:r>
            <a:r>
              <a:rPr lang="en-US" sz="1200" baseline="0" spc="-30">
                <a:solidFill>
                  <a:srgbClr val="545454"/>
                </a:solidFill>
                <a:latin typeface="Arial"/>
              </a:rPr>
              <a:t>n</a:t>
            </a:r>
            <a:r>
              <a:rPr lang="en-US" sz="1200" baseline="0" spc="-30">
                <a:solidFill>
                  <a:srgbClr val="151515"/>
                </a:solidFill>
                <a:latin typeface="Arial"/>
              </a:rPr>
              <a:t>i</a:t>
            </a:r>
            <a:r>
              <a:rPr lang="en-US" sz="1200" baseline="0" spc="-30">
                <a:solidFill>
                  <a:srgbClr val="3D3D3D"/>
                </a:solidFill>
                <a:latin typeface="Arial"/>
              </a:rPr>
              <a:t>nfo</a:t>
            </a:r>
            <a:r>
              <a:rPr lang="en-US" sz="1200" baseline="0" spc="-30">
                <a:solidFill>
                  <a:srgbClr val="151515"/>
                </a:solidFill>
                <a:latin typeface="Arial"/>
              </a:rPr>
              <a:t>r</a:t>
            </a:r>
            <a:r>
              <a:rPr lang="en-US" sz="1200" baseline="0" spc="-30">
                <a:solidFill>
                  <a:srgbClr val="3D3D3D"/>
                </a:solidFill>
                <a:latin typeface="Arial"/>
              </a:rPr>
              <a:t>med search methods </a:t>
            </a:r>
            <a:r>
              <a:rPr lang="en-US" sz="1200" baseline="0" spc="-17">
                <a:solidFill>
                  <a:srgbClr val="242424"/>
                </a:solidFill>
                <a:latin typeface="Arial"/>
              </a:rPr>
              <a:t>to </a:t>
            </a:r>
          </a:p>
          <a:p>
            <a:pPr marL="0" marR="0" indent="0" hangingPunct="false" algn="l">
              <a:lnSpc>
                <a:spcPts val="1340"/>
              </a:lnSpc>
              <a:spcBef>
                <a:spcPts val="89"/>
              </a:spcBef>
              <a:spcAft>
                <a:spcPct val="0"/>
              </a:spcAft>
            </a:pPr>
            <a:r>
              <a:rPr lang="en-US" sz="1200" baseline="0" spc="-30">
                <a:solidFill>
                  <a:srgbClr val="3D3D3D"/>
                </a:solidFill>
                <a:latin typeface="Arial"/>
              </a:rPr>
              <a:t>solve </a:t>
            </a:r>
            <a:r>
              <a:rPr lang="en-US" sz="1200" baseline="0" spc="-30">
                <a:solidFill>
                  <a:srgbClr val="545454"/>
                </a:solidFill>
                <a:latin typeface="Arial"/>
              </a:rPr>
              <a:t>problems </a:t>
            </a:r>
            <a:r>
              <a:rPr lang="en-US" sz="1200" baseline="0" spc="-30">
                <a:solidFill>
                  <a:srgbClr val="3D3D3D"/>
                </a:solidFill>
                <a:latin typeface="Arial"/>
              </a:rPr>
              <a:t>effective</a:t>
            </a:r>
            <a:r>
              <a:rPr lang="en-US" sz="1200" baseline="0" spc="-30">
                <a:solidFill>
                  <a:srgbClr val="010101"/>
                </a:solidFill>
                <a:latin typeface="Arial"/>
              </a:rPr>
              <a:t>l</a:t>
            </a:r>
            <a:r>
              <a:rPr lang="en-US" sz="1200" baseline="0" spc="-30">
                <a:solidFill>
                  <a:srgbClr val="3D3D3D"/>
                </a:solidFill>
                <a:latin typeface="Arial"/>
              </a:rPr>
              <a:t>y. </a:t>
            </a:r>
            <a:r>
              <a:rPr lang="en-US" sz="1200" i="true" baseline="0" spc="-13">
                <a:solidFill>
                  <a:srgbClr val="545454"/>
                </a:solidFill>
                <a:latin typeface="Arial"/>
              </a:rPr>
              <a:t>(BL3)</a:t>
            </a:r>
          </a:p>
          <a:p>
            <a:pPr marL="8890" marR="0" indent="0" hangingPunct="false" algn="l">
              <a:lnSpc>
                <a:spcPts val="1280"/>
              </a:lnSpc>
              <a:spcBef>
                <a:spcPts val="1800"/>
              </a:spcBef>
              <a:spcAft>
                <a:spcPct val="0"/>
              </a:spcAft>
            </a:pPr>
            <a:r>
              <a:rPr lang="en-US" sz="1150" i="true" baseline="0" spc="-28">
                <a:solidFill>
                  <a:srgbClr val="3D3D3D"/>
                </a:solidFill>
                <a:latin typeface="Arial"/>
              </a:rPr>
              <a:t>Assessment Tool Weigh/age: 35%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938530" y="5066030"/>
            <a:ext cx="111760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0">
                <a:solidFill>
                  <a:srgbClr val="151515"/>
                </a:solidFill>
                <a:latin typeface="Arial"/>
              </a:rPr>
              <a:t>QUESTIONS</a:t>
            </a:r>
            <a:r>
              <a:rPr lang="en-US" sz="1200" b="true" baseline="0" spc="30">
                <a:solidFill>
                  <a:srgbClr val="545454"/>
                </a:solidFill>
                <a:latin typeface="Arial"/>
              </a:rPr>
              <a:t>: </a:t>
            </a:r>
            <a:r>
              <a:rPr lang="en-US" sz="1200" b="true" baseline="0">
                <a:solidFill>
                  <a:srgbClr val="151515"/>
                </a:solidFill>
                <a:latin typeface="Arial"/>
              </a:rPr>
              <a:t>5​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5043170" y="5066030"/>
            <a:ext cx="124460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30">
                <a:solidFill>
                  <a:srgbClr val="151515"/>
                </a:solidFill>
                <a:latin typeface="Arial"/>
              </a:rPr>
              <a:t>Duration : </a:t>
            </a:r>
            <a:r>
              <a:rPr lang="en-US" sz="1200" b="true" baseline="0" spc="8">
                <a:solidFill>
                  <a:srgbClr val="242424"/>
                </a:solidFill>
                <a:latin typeface="Arial"/>
              </a:rPr>
              <a:t>1 </a:t>
            </a:r>
            <a:r>
              <a:rPr lang="en-US" sz="1200" b="true" baseline="0" spc="30">
                <a:solidFill>
                  <a:srgbClr val="151515"/>
                </a:solidFill>
                <a:latin typeface="Arial"/>
              </a:rPr>
              <a:t>Hour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5060950" y="5265420"/>
            <a:ext cx="1055370" cy="1701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r" marL="0" marR="0" indent="0" hangingPunct="false">
              <a:lnSpc>
                <a:spcPts val="134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200" b="true" baseline="0" spc="2">
                <a:solidFill>
                  <a:srgbClr val="151515"/>
                </a:solidFill>
                <a:latin typeface="Arial"/>
              </a:rPr>
              <a:t>Total </a:t>
            </a:r>
            <a:r>
              <a:rPr lang="en-US" sz="1200" b="true" baseline="0" spc="14">
                <a:solidFill>
                  <a:srgbClr val="242424"/>
                </a:solidFill>
                <a:latin typeface="Arial"/>
              </a:rPr>
              <a:t>Marks:50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3219450" y="5642610"/>
            <a:ext cx="796290" cy="170180"/>
          </a:xfrm>
          <a:prstGeom prst="rect">
            <a:avLst/>
          </a:prstGeom>
        </p:spPr>
        <p:txBody>
          <a:bodyPr anchor="ctr" rtlCol="false" vert="horz" anchorCtr="false" wrap="none" tIns="0" bIns="0" lIns="0" rIns="0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marL="0" marR="0" indent="0" hangingPunct="false" algn="l">
              <a:lnSpc>
                <a:spcPts val="134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aseline="0" spc="-30">
                <a:solidFill>
                  <a:srgbClr val="545454"/>
                </a:solidFill>
                <a:latin typeface="Arial"/>
              </a:rPr>
              <a:t>Annexure A</a:t>
            </a:r>
          </a:p>
        </p:txBody>
      </p:sp>
      <p:sp>
        <p:nvSpPr>
          <p:cNvPr name="TextBox 15" id="15"/>
          <p:cNvSpPr txBox="true"/>
          <p:nvPr/>
        </p:nvSpPr>
        <p:spPr>
          <a:xfrm>
            <a:off x="2814320" y="6000750"/>
            <a:ext cx="2006600" cy="190500"/>
          </a:xfrm>
          <a:prstGeom prst="rect">
            <a:avLst/>
          </a:prstGeom>
        </p:spPr>
        <p:txBody>
          <a:bodyPr anchor="ctr" rtlCol="false" vert="horz" anchorCtr="false" wrap="none" tIns="0" bIns="0" lIns="0" rIns="0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marL="0" marR="0" indent="0" hangingPunct="false" algn="r">
              <a:lnSpc>
                <a:spcPts val="15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50" b="true" baseline="0" spc="-1" u="sng">
                <a:solidFill>
                  <a:srgbClr val="242424"/>
                </a:solidFill>
                <a:latin typeface="Times New Roman"/>
              </a:rPr>
              <a:t>Analytical </a:t>
            </a:r>
            <a:r>
              <a:rPr lang="en-US" sz="1350" b="true" baseline="0" spc="3" u="sng">
                <a:solidFill>
                  <a:srgbClr val="151515"/>
                </a:solidFill>
                <a:latin typeface="Times New Roman"/>
              </a:rPr>
              <a:t>Problem </a:t>
            </a:r>
            <a:r>
              <a:rPr lang="en-US" sz="1350" b="true" baseline="0" spc="-6" u="sng">
                <a:solidFill>
                  <a:srgbClr val="3D3D3D"/>
                </a:solidFill>
                <a:latin typeface="Times New Roman"/>
              </a:rPr>
              <a:t>Solving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919480" y="7212330"/>
            <a:ext cx="5180330" cy="1322070"/>
          </a:xfrm>
          <a:prstGeom prst="rect">
            <a:avLst/>
          </a:prstGeom>
        </p:spPr>
        <p:txBody>
          <a:bodyPr anchor="ctr" rtlCol="false" vert="horz" anchorCtr="false" wrap="none" tIns="0" bIns="0" lIns="0" rIns="0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marL="0" marR="0" indent="0" hangingPunct="false" algn="l">
              <a:lnSpc>
                <a:spcPts val="144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 i="true" baseline="0" spc="-32">
                <a:solidFill>
                  <a:srgbClr val="3D3D3D"/>
                </a:solidFill>
                <a:latin typeface="Times New Roman"/>
              </a:rPr>
              <a:t>Code of Conduct:</a:t>
            </a:r>
          </a:p>
          <a:p>
            <a:pPr marL="10160" marR="0" indent="0" hangingPunct="false" algn="l">
              <a:lnSpc>
                <a:spcPts val="1420"/>
              </a:lnSpc>
              <a:spcBef>
                <a:spcPts val="1510"/>
              </a:spcBef>
              <a:spcAft>
                <a:spcPct val="0"/>
              </a:spcAft>
            </a:pPr>
            <a:r>
              <a:rPr lang="en-US" sz="1250" i="true" baseline="0" spc="-31">
                <a:solidFill>
                  <a:srgbClr val="545454"/>
                </a:solidFill>
                <a:latin typeface="Times New Roman"/>
              </a:rPr>
              <a:t>I am </a:t>
            </a:r>
            <a:r>
              <a:rPr lang="en-US" sz="1100" baseline="0" spc="-27">
                <a:solidFill>
                  <a:srgbClr val="000000"/>
                </a:solidFill>
                <a:latin typeface="Arial"/>
              </a:rPr>
              <a:t>Vishvanandh M</a:t>
            </a:r>
            <a:r>
              <a:rPr lang="en-US" sz="1250" i="true" baseline="0" spc="-15">
                <a:solidFill>
                  <a:srgbClr val="545454"/>
                </a:solidFill>
                <a:latin typeface="Times New Roman"/>
              </a:rPr>
              <a:t> /1965260005certify that </a:t>
            </a:r>
            <a:r>
              <a:rPr lang="en-US" sz="1250" i="true" baseline="0">
                <a:solidFill>
                  <a:srgbClr val="545454"/>
                </a:solidFill>
                <a:latin typeface=""/>
              </a:rPr>
              <a:t>this </a:t>
            </a:r>
            <a:r>
              <a:rPr lang="en-US" sz="1250" i="true" baseline="0">
                <a:solidFill>
                  <a:srgbClr val="3D3D3D"/>
                </a:solidFill>
                <a:latin typeface=""/>
              </a:rPr>
              <a:t>submissi</a:t>
            </a:r>
            <a:r>
              <a:rPr lang="en-US" sz="1250" i="true" baseline="0">
                <a:solidFill>
                  <a:srgbClr val="696969"/>
                </a:solidFill>
                <a:latin typeface=""/>
              </a:rPr>
              <a:t>on</a:t>
            </a:r>
            <a:r>
              <a:rPr lang="en-US" sz="1250" i="true" baseline="0" spc="-2">
                <a:solidFill>
                  <a:srgbClr val="696969"/>
                </a:solidFill>
                <a:latin typeface="Times New Roman"/>
              </a:rPr>
              <a:t> </a:t>
            </a:r>
            <a:r>
              <a:rPr lang="en-US" sz="1250" i="true" baseline="0" spc="-31">
                <a:solidFill>
                  <a:srgbClr val="545454"/>
                </a:solidFill>
                <a:latin typeface="Times New Roman"/>
              </a:rPr>
              <a:t>is my original </a:t>
            </a:r>
          </a:p>
          <a:p>
            <a:pPr marL="10160" marR="0" indent="0" hangingPunct="false" algn="l">
              <a:lnSpc>
                <a:spcPts val="1440"/>
              </a:lnSpc>
              <a:spcBef>
                <a:spcPts val="229"/>
              </a:spcBef>
              <a:spcAft>
                <a:spcPct val="0"/>
              </a:spcAft>
            </a:pPr>
            <a:r>
              <a:rPr lang="en-US" sz="1300" i="true" baseline="0" spc="-32">
                <a:solidFill>
                  <a:srgbClr val="545454"/>
                </a:solidFill>
                <a:latin typeface="Times New Roman"/>
              </a:rPr>
              <a:t>Word and that </a:t>
            </a:r>
            <a:r>
              <a:rPr lang="en-US" sz="1100" i="true" baseline="0" spc="-27">
                <a:solidFill>
                  <a:srgbClr val="3D3D3D"/>
                </a:solidFill>
                <a:latin typeface="Times New Roman"/>
              </a:rPr>
              <a:t>I </a:t>
            </a:r>
            <a:r>
              <a:rPr lang="en-US" sz="1300" i="true" baseline="0" spc="-32">
                <a:solidFill>
                  <a:srgbClr val="545454"/>
                </a:solidFill>
                <a:latin typeface="Times New Roman"/>
              </a:rPr>
              <a:t>have adhered to the </a:t>
            </a:r>
            <a:r>
              <a:rPr lang="en-US" sz="1300" i="true" baseline="0" spc="-13">
                <a:solidFill>
                  <a:srgbClr val="3D3D3D"/>
                </a:solidFill>
                <a:latin typeface="Times New Roman"/>
              </a:rPr>
              <a:t>guidelines </a:t>
            </a:r>
            <a:r>
              <a:rPr lang="en-US" sz="1300" i="true" baseline="0" spc="-16">
                <a:solidFill>
                  <a:srgbClr val="545454"/>
                </a:solidFill>
                <a:latin typeface="Times New Roman"/>
              </a:rPr>
              <a:t>specified </a:t>
            </a:r>
            <a:r>
              <a:rPr lang="en-US" sz="1300" i="true" baseline="0" spc="-32">
                <a:solidFill>
                  <a:srgbClr val="3D3D3D"/>
                </a:solidFill>
                <a:latin typeface="Times New Roman"/>
              </a:rPr>
              <a:t>for </a:t>
            </a:r>
            <a:r>
              <a:rPr lang="en-US" sz="1300" i="true" baseline="0" spc="-32">
                <a:solidFill>
                  <a:srgbClr val="545454"/>
                </a:solidFill>
                <a:latin typeface="Times New Roman"/>
              </a:rPr>
              <a:t>this assessment.</a:t>
            </a:r>
          </a:p>
          <a:p>
            <a:pPr marL="0" marR="0" indent="0" hangingPunct="false" algn="l">
              <a:lnSpc>
                <a:spcPts val="1170"/>
              </a:lnSpc>
              <a:spcBef>
                <a:spcPts val="430"/>
              </a:spcBef>
              <a:spcAft>
                <a:spcPct val="0"/>
              </a:spcAft>
            </a:pPr>
            <a:r>
              <a:rPr lang="en-US" sz="1050" i="true" baseline="0" spc="-15">
                <a:solidFill>
                  <a:srgbClr val="545454"/>
                </a:solidFill>
                <a:latin typeface="Arial"/>
              </a:rPr>
              <a:t>I understand that any </a:t>
            </a:r>
            <a:r>
              <a:rPr lang="en-US" sz="1050" i="true" baseline="0" spc="-26">
                <a:solidFill>
                  <a:srgbClr val="3D3D3D"/>
                </a:solidFill>
                <a:latin typeface="Arial"/>
              </a:rPr>
              <a:t>viol</a:t>
            </a:r>
            <a:r>
              <a:rPr lang="en-US" sz="1050" i="true" baseline="0" spc="-26">
                <a:solidFill>
                  <a:srgbClr val="696969"/>
                </a:solidFill>
                <a:latin typeface="Arial"/>
              </a:rPr>
              <a:t>ation </a:t>
            </a:r>
            <a:r>
              <a:rPr lang="en-US" sz="1050" i="true" baseline="0" spc="-26">
                <a:solidFill>
                  <a:srgbClr val="545454"/>
                </a:solidFill>
                <a:latin typeface="Arial"/>
              </a:rPr>
              <a:t>of </a:t>
            </a:r>
            <a:r>
              <a:rPr lang="en-US" sz="1050" i="true" baseline="0" spc="0">
                <a:solidFill>
                  <a:srgbClr val="3D3D3D"/>
                </a:solidFill>
                <a:latin typeface="Arial"/>
              </a:rPr>
              <a:t>a</a:t>
            </a:r>
            <a:r>
              <a:rPr lang="en-US" sz="1050" i="true" baseline="0" spc="-26">
                <a:solidFill>
                  <a:srgbClr val="696969"/>
                </a:solidFill>
                <a:latin typeface="Arial"/>
              </a:rPr>
              <a:t>c</a:t>
            </a:r>
            <a:r>
              <a:rPr lang="en-US" sz="1050" i="true" baseline="0" spc="-26">
                <a:solidFill>
                  <a:srgbClr val="3D3D3D"/>
                </a:solidFill>
                <a:latin typeface="Arial"/>
              </a:rPr>
              <a:t>ademic in</a:t>
            </a:r>
            <a:r>
              <a:rPr lang="en-US" sz="1050" i="true" baseline="0" spc="-26">
                <a:solidFill>
                  <a:srgbClr val="696969"/>
                </a:solidFill>
                <a:latin typeface="Arial"/>
              </a:rPr>
              <a:t>tegr</a:t>
            </a:r>
            <a:r>
              <a:rPr lang="en-US" sz="1050" i="true" baseline="0" spc="-26">
                <a:solidFill>
                  <a:srgbClr val="3D3D3D"/>
                </a:solidFill>
                <a:latin typeface="Arial"/>
              </a:rPr>
              <a:t>ity rules will result </a:t>
            </a:r>
            <a:r>
              <a:rPr lang="en-US" sz="1050" i="true" baseline="0" spc="-26">
                <a:solidFill>
                  <a:srgbClr val="696969"/>
                </a:solidFill>
                <a:latin typeface="Arial"/>
              </a:rPr>
              <a:t>in </a:t>
            </a:r>
            <a:r>
              <a:rPr lang="en-US" sz="1050" i="true" baseline="0" spc="-26">
                <a:solidFill>
                  <a:srgbClr val="3D3D3D"/>
                </a:solidFill>
                <a:latin typeface="Arial"/>
              </a:rPr>
              <a:t>dis</a:t>
            </a:r>
            <a:r>
              <a:rPr lang="en-US" sz="1050" i="true" baseline="0" spc="-26">
                <a:solidFill>
                  <a:srgbClr val="696969"/>
                </a:solidFill>
                <a:latin typeface="Arial"/>
              </a:rPr>
              <a:t>ciplinary </a:t>
            </a:r>
            <a:r>
              <a:rPr lang="en-US" sz="1050" i="true" baseline="0" spc="-26">
                <a:solidFill>
                  <a:srgbClr val="545454"/>
                </a:solidFill>
                <a:latin typeface="Arial"/>
              </a:rPr>
              <a:t>action</a:t>
            </a:r>
          </a:p>
          <a:p>
            <a:pPr marL="19050" marR="0" indent="0" hangingPunct="false" algn="l">
              <a:lnSpc>
                <a:spcPts val="1440"/>
              </a:lnSpc>
              <a:spcBef>
                <a:spcPts val="1330"/>
              </a:spcBef>
              <a:spcAft>
                <a:spcPct val="0"/>
              </a:spcAft>
            </a:pPr>
            <a:r>
              <a:rPr lang="en-US" sz="1300" i="true" baseline="0" spc="-32">
                <a:solidFill>
                  <a:srgbClr val="3D3D3D"/>
                </a:solidFill>
                <a:latin typeface="Times New Roman"/>
              </a:rPr>
              <a:t>Signature of the student:</a:t>
            </a:r>
            <a:r>
              <a:rPr lang="en-US" sz="1300" i="true" baseline="0" spc="-32">
                <a:solidFill>
                  <a:srgbClr val="000000"/>
                </a:solidFill>
                <a:latin typeface="Times New Roman"/>
              </a:rPr>
              <a:t>Vishvanandh M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19150" y="3790950"/>
          <a:ext cx="5943600" cy="1968500"/>
        </p:xfrm>
        <a:graphic>
          <a:graphicData uri="http://schemas.openxmlformats.org/drawingml/2006/table">
            <a:tbl>
              <a:tblPr/>
              <a:tblGrid>
                <a:gridCol w="355600"/>
                <a:gridCol w="3962400"/>
                <a:gridCol w="16256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Rule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Condition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1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8">
                          <a:solidFill>
                            <a:srgbClr val="000000"/>
                          </a:solidFill>
                          <a:latin typeface="Arial"/>
                        </a:rPr>
                        <a:t>(x, y) -&gt; (4, y) Fill the 4-gal jug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3">
                          <a:solidFill>
                            <a:srgbClr val="000000"/>
                          </a:solidFill>
                          <a:latin typeface="Arial"/>
                        </a:rPr>
                        <a:t>x &lt; 4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2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8">
                          <a:solidFill>
                            <a:srgbClr val="000000"/>
                          </a:solidFill>
                          <a:latin typeface="Arial"/>
                        </a:rPr>
                        <a:t>(x, y) -&gt; (x, 3) Fill the 3-gal jug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3">
                          <a:solidFill>
                            <a:srgbClr val="000000"/>
                          </a:solidFill>
                          <a:latin typeface="Arial"/>
                        </a:rPr>
                        <a:t>y &lt; 3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3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8">
                          <a:solidFill>
                            <a:srgbClr val="000000"/>
                          </a:solidFill>
                          <a:latin typeface="Arial"/>
                        </a:rPr>
                        <a:t>(x, y) -&gt; (0, y) Empty the 4-gal jug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3">
                          <a:solidFill>
                            <a:srgbClr val="000000"/>
                          </a:solidFill>
                          <a:latin typeface="Arial"/>
                        </a:rPr>
                        <a:t>x &gt; 0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4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8">
                          <a:solidFill>
                            <a:srgbClr val="000000"/>
                          </a:solidFill>
                          <a:latin typeface="Arial"/>
                        </a:rPr>
                        <a:t>(x, y) -&gt; (x, 0) Empty the 3-gal jug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3">
                          <a:solidFill>
                            <a:srgbClr val="000000"/>
                          </a:solidFill>
                          <a:latin typeface="Arial"/>
                        </a:rPr>
                        <a:t>y &gt; 0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5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8">
                          <a:solidFill>
                            <a:srgbClr val="000000"/>
                          </a:solidFill>
                          <a:latin typeface="Arial"/>
                        </a:rPr>
                        <a:t>(x, y) -&gt; (4, y - (4 - x)) Pour 3-gal into 4-gal until the 4-gal is full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3">
                          <a:solidFill>
                            <a:srgbClr val="000000"/>
                          </a:solidFill>
                          <a:latin typeface="Arial"/>
                        </a:rPr>
                        <a:t>x + y &gt;= 4, y &gt; 0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6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8">
                          <a:solidFill>
                            <a:srgbClr val="000000"/>
                          </a:solidFill>
                          <a:latin typeface="Arial"/>
                        </a:rPr>
                        <a:t>(x, y) -&gt; (x - (3 - y), 3) Pour 4-gal into 3-gal until the 3-gal is full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3">
                          <a:solidFill>
                            <a:srgbClr val="000000"/>
                          </a:solidFill>
                          <a:latin typeface="Arial"/>
                        </a:rPr>
                        <a:t>x + y &gt;= 3, x &gt; 0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7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9">
                          <a:solidFill>
                            <a:srgbClr val="000000"/>
                          </a:solidFill>
                          <a:latin typeface="Arial"/>
                        </a:rPr>
                        <a:t>(x, y) -&gt; (x + y, 0) Pour all of the 3-gal into the 4-gal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3">
                          <a:solidFill>
                            <a:srgbClr val="000000"/>
                          </a:solidFill>
                          <a:latin typeface="Arial"/>
                        </a:rPr>
                        <a:t>x + y &lt;= 4, y &gt; 0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8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8">
                          <a:solidFill>
                            <a:srgbClr val="000000"/>
                          </a:solidFill>
                          <a:latin typeface="Arial"/>
                        </a:rPr>
                        <a:t>(x, y) -&gt; (0, x + y) Pour all of the 4-gal into the 3-gal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3">
                          <a:solidFill>
                            <a:srgbClr val="000000"/>
                          </a:solidFill>
                          <a:latin typeface="Arial"/>
                        </a:rPr>
                        <a:t>x + y &lt;= 3, x &gt; 0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19150" y="6127750"/>
          <a:ext cx="5943600" cy="1752600"/>
        </p:xfrm>
        <a:graphic>
          <a:graphicData uri="http://schemas.openxmlformats.org/drawingml/2006/table">
            <a:tbl>
              <a:tblPr/>
              <a:tblGrid>
                <a:gridCol w="533400"/>
                <a:gridCol w="4152900"/>
                <a:gridCol w="1257300"/>
              </a:tblGrid>
              <a:tr h="228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highlight>
                            <a:srgbClr val="000000"/>
                          </a:highlight>
                          <a:latin typeface="Arial"/>
                        </a:rPr>
                        <a:t>Step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highlight>
                            <a:srgbClr val="000000"/>
                          </a:highlight>
                          <a:latin typeface="Arial"/>
                        </a:rPr>
                        <a:t>Action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8">
                          <a:solidFill>
                            <a:srgbClr val="FFFFFF"/>
                          </a:solidFill>
                          <a:highlight>
                            <a:srgbClr val="000000"/>
                          </a:highlight>
                          <a:latin typeface="Arial"/>
                        </a:rPr>
                        <a:t>State (4-gal, 3-gal)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0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9">
                          <a:solidFill>
                            <a:srgbClr val="000000"/>
                          </a:solidFill>
                          <a:latin typeface="Arial"/>
                        </a:rPr>
                        <a:t>Start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1">
                          <a:solidFill>
                            <a:srgbClr val="000000"/>
                          </a:solidFill>
                          <a:latin typeface="Arial"/>
                        </a:rPr>
                        <a:t>(0, 0)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1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Fill the 3-gallon jug from the pump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1">
                          <a:solidFill>
                            <a:srgbClr val="000000"/>
                          </a:solidFill>
                          <a:latin typeface="Arial"/>
                        </a:rPr>
                        <a:t>(0, 3)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2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Pour the 3-gallon jug into the 4-gallon jug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1">
                          <a:solidFill>
                            <a:srgbClr val="000000"/>
                          </a:solidFill>
                          <a:latin typeface="Arial"/>
                        </a:rPr>
                        <a:t>(3, 0)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3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2">
                          <a:solidFill>
                            <a:srgbClr val="000000"/>
                          </a:solidFill>
                          <a:latin typeface="Arial"/>
                        </a:rPr>
                        <a:t>Fill the 3-gallon jug again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1">
                          <a:solidFill>
                            <a:srgbClr val="000000"/>
                          </a:solidFill>
                          <a:latin typeface="Arial"/>
                        </a:rPr>
                        <a:t>(3, 3)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4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Pour from the 3-gal jug into the 4-gal jug until it is full (only 1 gallon fits)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1">
                          <a:solidFill>
                            <a:srgbClr val="000000"/>
                          </a:solidFill>
                          <a:latin typeface="Arial"/>
                        </a:rPr>
                        <a:t>(4, 2)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5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Empty the 4-gallon jug onto the ground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1">
                          <a:solidFill>
                            <a:srgbClr val="000000"/>
                          </a:solidFill>
                          <a:latin typeface="Arial"/>
                        </a:rPr>
                        <a:t>(0, 2)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6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Pour the 3-gallon jug (2 gallons) into the 4-gallon jug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3">
                          <a:solidFill>
                            <a:srgbClr val="000000"/>
                          </a:solidFill>
                          <a:latin typeface="Arial"/>
                        </a:rPr>
                        <a:t>(2, 0) GOAL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" id="2"/>
          <p:cNvSpPr txBox="true"/>
          <p:nvPr/>
        </p:nvSpPr>
        <p:spPr>
          <a:xfrm>
            <a:off x="2362200" y="695960"/>
            <a:ext cx="2898140" cy="28194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r" marL="0" marR="1384300" indent="0" hangingPunct="false">
              <a:lnSpc>
                <a:spcPts val="2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2000" baseline="0" spc="-50">
                <a:solidFill>
                  <a:srgbClr val="000000"/>
                </a:solidFill>
                <a:latin typeface="Times New Roman"/>
              </a:rPr>
              <a:t>Analytical Problem Solving 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796290" y="1014730"/>
            <a:ext cx="5848350" cy="2678430"/>
          </a:xfrm>
          <a:prstGeom prst="rect">
            <a:avLst/>
          </a:prstGeom>
        </p:spPr>
        <p:txBody>
          <a:bodyPr anchor="ctr" rtlCol="false" vert="horz" anchorCtr="false" wrap="none" tIns="0" bIns="0" lIns="0" rIns="0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marL="0" marR="0" indent="0" hangingPunct="false" algn="l">
              <a:lnSpc>
                <a:spcPts val="132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true" baseline="0" spc="0">
                <a:solidFill>
                  <a:srgbClr val="000000"/>
                </a:solidFill>
                <a:latin typeface="Times New Roman"/>
              </a:rPr>
              <a:t>Assessment 1 - Complete Solutions (CSA1710 Artificial Intelligence) </a:t>
            </a:r>
          </a:p>
          <a:p>
            <a:pPr marL="0" marR="0" indent="0" hangingPunct="false" algn="l">
              <a:lnSpc>
                <a:spcPts val="1550"/>
              </a:lnSpc>
              <a:spcBef>
                <a:spcPts val="1929"/>
              </a:spcBef>
              <a:spcAft>
                <a:spcPct val="0"/>
              </a:spcAft>
            </a:pPr>
            <a:r>
              <a:rPr lang="en-US" sz="1400" b="true" baseline="0" spc="3">
                <a:solidFill>
                  <a:srgbClr val="000000"/>
                </a:solidFill>
                <a:latin typeface="Times New Roman"/>
              </a:rPr>
              <a:t>Question 1: Water Jug Problem (4-gallon and 3-gallon jugs)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889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1.​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Problem understanding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860"/>
              </a:spcBef>
              <a:spcAft>
                <a:spcPct val="0"/>
              </a:spcAft>
            </a:pPr>
            <a:r>
              <a:rPr lang="en-US" sz="1000" b="true" baseline="0" spc="13">
                <a:solidFill>
                  <a:srgbClr val="000000"/>
                </a:solidFill>
                <a:latin typeface="Arial"/>
              </a:rPr>
              <a:t>State: </a:t>
            </a:r>
            <a:r>
              <a:rPr lang="en-US" sz="1000" baseline="0" spc="-10">
                <a:solidFill>
                  <a:srgbClr val="000000"/>
                </a:solidFill>
                <a:latin typeface="Arial"/>
              </a:rPr>
              <a:t>(x, y) where x = water in the 4-gallon jug (0 to 4) and y = water in the 3-gallon jug (0 to 3).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Initial state: </a:t>
            </a:r>
            <a:r>
              <a:rPr lang="en-US" sz="1000" baseline="0" spc="0">
                <a:solidFill>
                  <a:srgbClr val="000000"/>
                </a:solidFill>
                <a:latin typeface="Arial"/>
              </a:rPr>
              <a:t>(0, 0). 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Goal state: </a:t>
            </a:r>
            <a:r>
              <a:rPr lang="en-US" sz="1000" baseline="0" spc="-12">
                <a:solidFill>
                  <a:srgbClr val="000000"/>
                </a:solidFill>
                <a:latin typeface="Arial"/>
              </a:rPr>
              <a:t>(2, y) for any y (here the 4-gallon jug holds exactly 2).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290"/>
              </a:spcBef>
              <a:spcAft>
                <a:spcPct val="0"/>
              </a:spcAft>
            </a:pP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Assumptions: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a jug can be filled from the pump, emptied onto the ground, or poured into the other jug;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29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there is no measuring device, so a pour ends only when the source is empty or the target is full.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1080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2.​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Method selection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860"/>
              </a:spcBef>
              <a:spcAft>
                <a:spcPct val="0"/>
              </a:spcAft>
            </a:pPr>
            <a:r>
              <a:rPr lang="en-US" sz="1000" baseline="0" spc="-13">
                <a:solidFill>
                  <a:srgbClr val="000000"/>
                </a:solidFill>
                <a:latin typeface="Arial"/>
              </a:rPr>
              <a:t>The problem is modelled as a state-space search. Breadth-First Search (BFS) is chosen because every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action has equal cost and BFS is complete and returns the shortest sequence of actions.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1089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Production rules (operators) 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96290" y="5882640"/>
            <a:ext cx="3557270" cy="15494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27">
                <a:solidFill>
                  <a:srgbClr val="2A5B88"/>
                </a:solidFill>
                <a:latin typeface="Arial"/>
              </a:rPr>
              <a:t>3.​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Solution process (one shortest solution, 6 actions) 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796290" y="7957820"/>
            <a:ext cx="5967730" cy="16230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25">
                <a:solidFill>
                  <a:srgbClr val="000000"/>
                </a:solidFill>
                <a:latin typeface="Arial"/>
              </a:rPr>
              <a:t>Alternative solution (also 6 actions): </a:t>
            </a:r>
            <a:r>
              <a:rPr lang="en-US" sz="1000" baseline="0" spc="0">
                <a:solidFill>
                  <a:srgbClr val="000000"/>
                </a:solidFill>
                <a:latin typeface="Arial"/>
              </a:rPr>
              <a:t>(0,0) -&gt; (4,0) -&gt; (1,3) -&gt; (1,0) -&gt; (0,1) -&gt; (4,1) -&gt; (2,3). Here </a:t>
            </a:r>
            <a:endParaRPr lang="en-US" sz="1100"/>
          </a:p>
          <a:p>
            <a:pPr marL="0" marR="0" indent="0" hangingPunct="false" algn="l">
              <a:lnSpc>
                <a:spcPts val="111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the 4-gallon jug also ends with exactly 2 gallons.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1080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4.​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Accuracy and interpretation </a:t>
            </a:r>
          </a:p>
          <a:p>
            <a:pPr marL="46990" marR="0" indent="0" hangingPunct="false" algn="l">
              <a:lnSpc>
                <a:spcPts val="1120"/>
              </a:lnSpc>
              <a:spcBef>
                <a:spcPts val="860"/>
              </a:spcBef>
              <a:spcAft>
                <a:spcPct val="0"/>
              </a:spcAft>
            </a:pPr>
            <a:r>
              <a:rPr lang="en-US" sz="1000" baseline="0" spc="-9">
                <a:solidFill>
                  <a:srgbClr val="000000"/>
                </a:solidFill>
                <a:latin typeface="Arial"/>
              </a:rPr>
              <a:t>-​ Check for solution 1: after step 3 the total water is 6 gallons; step 4 moves 1 gallon so (4,2) holds 4 + 2 </a:t>
            </a:r>
          </a:p>
          <a:p>
            <a:pPr marL="18034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= 6. Throwing away the 4 gallons leaves 2, which is moved into the 4-gallon jug. </a:t>
            </a:r>
          </a:p>
          <a:p>
            <a:pPr marL="66040" marR="0" indent="0" hangingPunct="false" algn="l">
              <a:lnSpc>
                <a:spcPts val="1120"/>
              </a:lnSpc>
              <a:spcBef>
                <a:spcPts val="490"/>
              </a:spcBef>
              <a:spcAft>
                <a:spcPct val="0"/>
              </a:spcAft>
            </a:pPr>
            <a:r>
              <a:rPr lang="en-US" sz="1000" baseline="0" spc="-9">
                <a:solidFill>
                  <a:srgbClr val="000000"/>
                </a:solidFill>
                <a:latin typeface="Arial"/>
              </a:rPr>
              <a:t>-​ The key idea is that 3 - (4 - 3) = 2: filling the 3-gallon jug twice and topping up the 4-gallon jug leaves </a:t>
            </a:r>
          </a:p>
          <a:p>
            <a:pPr marL="190500" marR="0" indent="0" hangingPunct="false" algn="l">
              <a:lnSpc>
                <a:spcPts val="1120"/>
              </a:lnSpc>
              <a:spcBef>
                <a:spcPts val="270"/>
              </a:spcBef>
              <a:spcAft>
                <a:spcPct val="0"/>
              </a:spcAft>
            </a:pP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a remainder of exactly 2 gallons. </a:t>
            </a:r>
          </a:p>
          <a:p>
            <a:pPr marL="46990" marR="0" indent="0" hangingPunct="false" algn="l">
              <a:lnSpc>
                <a:spcPts val="1110"/>
              </a:lnSpc>
              <a:spcBef>
                <a:spcPts val="480"/>
              </a:spcBef>
              <a:spcAft>
                <a:spcPct val="0"/>
              </a:spcAft>
            </a:pPr>
            <a:r>
              <a:rPr lang="en-US" sz="1000" baseline="0" spc="-11">
                <a:solidFill>
                  <a:srgbClr val="000000"/>
                </a:solidFill>
                <a:latin typeface="Arial"/>
              </a:rPr>
              <a:t>-​ Because BFS explores states level by level, no solution with fewer than 6 actions exists.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19150" y="4362450"/>
          <a:ext cx="5930900" cy="246380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34163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Property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Reason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Observability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Partially observable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0">
                          <a:solidFill>
                            <a:srgbClr val="000000"/>
                          </a:solidFill>
                          <a:latin typeface="Arial"/>
                        </a:rPr>
                        <a:t>The camera sees only a limited area; the sub-surface and far terrain </a:t>
                      </a:r>
                      <a:endParaRPr lang="en-US" sz="1100"/>
                    </a:p>
                    <a:p>
                      <a:pPr marL="74930" marR="0" indent="0" hangingPunct="false" algn="l">
                        <a:lnSpc>
                          <a:spcPts val="950"/>
                        </a:lnSpc>
                        <a:spcBef>
                          <a:spcPts val="15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are unknown. </a:t>
                      </a:r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Agents </a:t>
                      </a:r>
                      <a:endParaRPr lang="en-US" sz="1100"/>
                    </a:p>
                  </a:txBody>
                  <a:tcPr anchor="t" marT="546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1">
                          <a:solidFill>
                            <a:srgbClr val="000000"/>
                          </a:solidFill>
                          <a:latin typeface="Arial"/>
                        </a:rPr>
                        <a:t>Single agent </a:t>
                      </a:r>
                      <a:endParaRPr lang="en-US" sz="1100"/>
                    </a:p>
                  </a:txBody>
                  <a:tcPr anchor="t" marT="546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Only the rover acts (human operators on Earth only give high-level </a:t>
                      </a:r>
                      <a:endParaRPr lang="en-US" sz="1100"/>
                    </a:p>
                    <a:p>
                      <a:pPr marL="74930" marR="0" indent="0" hangingPunct="false" algn="l">
                        <a:lnSpc>
                          <a:spcPts val="950"/>
                        </a:lnSpc>
                        <a:spcBef>
                          <a:spcPts val="15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11">
                          <a:solidFill>
                            <a:srgbClr val="000000"/>
                          </a:solidFill>
                          <a:latin typeface="Arial"/>
                        </a:rPr>
                        <a:t>goals). </a:t>
                      </a:r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Determinism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Stochastic </a:t>
                      </a:r>
                      <a:endParaRPr lang="en-US" sz="1100"/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Wheel slip, sand, and uncertain sensor readings mean actions do </a:t>
                      </a:r>
                      <a:endParaRPr lang="en-US" sz="1100"/>
                    </a:p>
                    <a:p>
                      <a:pPr marL="74930" marR="0" indent="0" hangingPunct="false" algn="l">
                        <a:lnSpc>
                          <a:spcPts val="950"/>
                        </a:lnSpc>
                        <a:spcBef>
                          <a:spcPts val="15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not always give the expected result. </a:t>
                      </a:r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Episodic / Sequential </a:t>
                      </a:r>
                      <a:endParaRPr lang="en-US" sz="1100"/>
                    </a:p>
                  </a:txBody>
                  <a:tcPr anchor="t" marT="546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1">
                          <a:solidFill>
                            <a:srgbClr val="000000"/>
                          </a:solidFill>
                          <a:latin typeface="Arial"/>
                        </a:rPr>
                        <a:t>Sequential </a:t>
                      </a:r>
                      <a:endParaRPr lang="en-US" sz="1100"/>
                    </a:p>
                  </a:txBody>
                  <a:tcPr anchor="t" marT="546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Current moves affect later options (energy used, position, sample </a:t>
                      </a:r>
                      <a:endParaRPr lang="en-US" sz="1100"/>
                    </a:p>
                    <a:p>
                      <a:pPr marL="74930" marR="0" indent="0" hangingPunct="false" algn="l">
                        <a:lnSpc>
                          <a:spcPts val="950"/>
                        </a:lnSpc>
                        <a:spcBef>
                          <a:spcPts val="15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collected). </a:t>
                      </a:r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1">
                          <a:solidFill>
                            <a:srgbClr val="000000"/>
                          </a:solidFill>
                          <a:latin typeface="Arial"/>
                        </a:rPr>
                        <a:t>Static / Dynamic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Dynamic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Dust storms, changing light and temperature occur while the rover is </a:t>
                      </a:r>
                      <a:endParaRPr lang="en-US" sz="1100"/>
                    </a:p>
                    <a:p>
                      <a:pPr marL="74930" marR="0" indent="0" hangingPunct="false" algn="l">
                        <a:lnSpc>
                          <a:spcPts val="950"/>
                        </a:lnSpc>
                        <a:spcBef>
                          <a:spcPts val="15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deciding. </a:t>
                      </a:r>
                    </a:p>
                  </a:txBody>
                  <a:tcPr anchor="t" marT="4572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Discrete / Continuous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Continuous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Position, speed, temperature and sensor values vary continuously.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Known / Unknown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Largely unknown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Terrain is not fully mapped; the rover must learn it while exploring.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" id="2"/>
          <p:cNvSpPr txBox="true"/>
          <p:nvPr/>
        </p:nvSpPr>
        <p:spPr>
          <a:xfrm>
            <a:off x="796290" y="728980"/>
            <a:ext cx="5990590" cy="353568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19">
                <a:solidFill>
                  <a:srgbClr val="000000"/>
                </a:solidFill>
                <a:latin typeface="Arial"/>
              </a:rPr>
              <a:t>Question 2: Mars Rover - PEAS Analysis </a:t>
            </a:r>
            <a:endParaRPr lang="en-US" sz="1100"/>
          </a:p>
          <a:p>
            <a:pPr marL="0" marR="0" indent="0" hangingPunct="false" algn="l">
              <a:lnSpc>
                <a:spcPts val="1220"/>
              </a:lnSpc>
              <a:spcBef>
                <a:spcPts val="2900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Problem understanding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86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The Mars Rover is an autonomous robotic agent that moves across the Martian surface, selects rocks and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29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soil, analyses them with onboard instruments and sends the results to Earth. The agent is described with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290"/>
              </a:spcBef>
              <a:spcAft>
                <a:spcPct val="0"/>
              </a:spcAft>
            </a:pPr>
            <a:r>
              <a:rPr lang="en-US" sz="1000" baseline="0" spc="-13">
                <a:solidFill>
                  <a:srgbClr val="000000"/>
                </a:solidFill>
                <a:latin typeface="Arial"/>
              </a:rPr>
              <a:t>the </a:t>
            </a:r>
            <a:r>
              <a:rPr lang="en-US" sz="1000" b="true" baseline="0" spc="5">
                <a:solidFill>
                  <a:srgbClr val="000000"/>
                </a:solidFill>
                <a:latin typeface="Arial"/>
              </a:rPr>
              <a:t>PEAS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framework (Performance measure, Environment, Actuators, Sensors).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1089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(i)​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Percepts for this agent </a:t>
            </a:r>
          </a:p>
          <a:p>
            <a:pPr marL="46990" marR="0" indent="0" hangingPunct="false" algn="l">
              <a:lnSpc>
                <a:spcPts val="1120"/>
              </a:lnSpc>
              <a:spcBef>
                <a:spcPts val="850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Vision: </a:t>
            </a: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stereo/panoramic camera images of terrain, rocks and soil; hazard-avoidance camera images. </a:t>
            </a:r>
          </a:p>
          <a:p>
            <a:pPr marL="66040" marR="0" indent="0" hangingPunct="false" algn="l">
              <a:lnSpc>
                <a:spcPts val="1120"/>
              </a:lnSpc>
              <a:spcBef>
                <a:spcPts val="490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Scientific instruments: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spectrometer readings (chemical and mineral composition), </a:t>
            </a:r>
          </a:p>
          <a:p>
            <a:pPr marL="190500" marR="0" indent="0" hangingPunct="false" algn="l">
              <a:lnSpc>
                <a:spcPts val="1120"/>
              </a:lnSpc>
              <a:spcBef>
                <a:spcPts val="27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X-ray/laser readings, moisture and soil-property data. </a:t>
            </a:r>
          </a:p>
          <a:p>
            <a:pPr marL="66040" marR="0" indent="0" hangingPunct="false" algn="l">
              <a:lnSpc>
                <a:spcPts val="1120"/>
              </a:lnSpc>
              <a:spcBef>
                <a:spcPts val="469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Navigation and self-state: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wheel encoders, gyroscope/inertial unit (tilt and slope), </a:t>
            </a:r>
          </a:p>
          <a:p>
            <a:pPr marL="19050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position/heading estimate, wheel-slip and motor-current signals. </a:t>
            </a:r>
          </a:p>
          <a:p>
            <a:pPr marL="46990" marR="0" indent="0" hangingPunct="false" algn="l">
              <a:lnSpc>
                <a:spcPts val="1110"/>
              </a:lnSpc>
              <a:spcBef>
                <a:spcPts val="469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Environmental: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temperature, wind, dust and radiation levels, sunlight/solar-panel output. </a:t>
            </a:r>
          </a:p>
          <a:p>
            <a:pPr marL="46990" marR="0" indent="0" hangingPunct="false" algn="l">
              <a:lnSpc>
                <a:spcPts val="1120"/>
              </a:lnSpc>
              <a:spcBef>
                <a:spcPts val="480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Internal status: </a:t>
            </a: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battery level, component temperature and health, memory and data storage. </a:t>
            </a:r>
          </a:p>
          <a:p>
            <a:pPr marL="46990" marR="0" indent="0" hangingPunct="false" algn="l">
              <a:lnSpc>
                <a:spcPts val="1120"/>
              </a:lnSpc>
              <a:spcBef>
                <a:spcPts val="490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Communication: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commands and updated targets received from Earth (via orbiters).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1089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(ii)​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Characterization of the operating environment 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96290" y="6948170"/>
            <a:ext cx="5815330" cy="27292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3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27">
                <a:solidFill>
                  <a:srgbClr val="2A5B88"/>
                </a:solidFill>
                <a:latin typeface="Arial"/>
              </a:rPr>
              <a:t>(iii)​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Actions the agent can take (actuators) </a:t>
            </a:r>
            <a:endParaRPr lang="en-US" sz="1100"/>
          </a:p>
          <a:p>
            <a:pPr marL="46990" marR="0" indent="0" hangingPunct="false" algn="l">
              <a:lnSpc>
                <a:spcPts val="1120"/>
              </a:lnSpc>
              <a:spcBef>
                <a:spcPts val="860"/>
              </a:spcBef>
              <a:spcAft>
                <a:spcPct val="0"/>
              </a:spcAft>
            </a:pPr>
            <a:r>
              <a:rPr lang="en-US" sz="1000" baseline="0" spc="-10">
                <a:solidFill>
                  <a:srgbClr val="000000"/>
                </a:solidFill>
                <a:latin typeface="Arial"/>
              </a:rPr>
              <a:t>-​ Drive forward/backward, turn, climb, stop, and select a path around obstacles. </a:t>
            </a:r>
          </a:p>
          <a:p>
            <a:pPr marL="46990" marR="0" indent="0" hangingPunct="false" algn="l">
              <a:lnSpc>
                <a:spcPts val="1120"/>
              </a:lnSpc>
              <a:spcBef>
                <a:spcPts val="480"/>
              </a:spcBef>
              <a:spcAft>
                <a:spcPct val="0"/>
              </a:spcAft>
            </a:pPr>
            <a:r>
              <a:rPr lang="en-US" sz="1000" baseline="0" spc="-13">
                <a:solidFill>
                  <a:srgbClr val="000000"/>
                </a:solidFill>
                <a:latin typeface="Arial"/>
              </a:rPr>
              <a:t>-​ Move the robotic arm; scoop, drill or scrape soil and rock; place a sample in the analysis instrument. </a:t>
            </a:r>
          </a:p>
          <a:p>
            <a:pPr marL="46990" marR="0" indent="0" hangingPunct="false" algn="l">
              <a:lnSpc>
                <a:spcPts val="1110"/>
              </a:lnSpc>
              <a:spcBef>
                <a:spcPts val="480"/>
              </a:spcBef>
              <a:spcAft>
                <a:spcPct val="0"/>
              </a:spcAft>
            </a:pPr>
            <a:r>
              <a:rPr lang="en-US" sz="1000" baseline="0" spc="-11">
                <a:solidFill>
                  <a:srgbClr val="000000"/>
                </a:solidFill>
                <a:latin typeface="Arial"/>
              </a:rPr>
              <a:t>-​ Rotate/tilt the mast camera; capture images; switch instruments on or off. </a:t>
            </a:r>
          </a:p>
          <a:p>
            <a:pPr marL="46990" marR="0" indent="0" hangingPunct="false" algn="l">
              <a:lnSpc>
                <a:spcPts val="1120"/>
              </a:lnSpc>
              <a:spcBef>
                <a:spcPts val="480"/>
              </a:spcBef>
              <a:spcAft>
                <a:spcPct val="0"/>
              </a:spcAft>
            </a:pPr>
            <a:r>
              <a:rPr lang="en-US" sz="1000" baseline="0" spc="-9">
                <a:solidFill>
                  <a:srgbClr val="000000"/>
                </a:solidFill>
                <a:latin typeface="Arial"/>
              </a:rPr>
              <a:t>-​ Transmit data to Earth/orbiter; receive and store commands. </a:t>
            </a:r>
          </a:p>
          <a:p>
            <a:pPr marL="46990" marR="0" indent="0" hangingPunct="false" algn="l">
              <a:lnSpc>
                <a:spcPts val="1120"/>
              </a:lnSpc>
              <a:spcBef>
                <a:spcPts val="480"/>
              </a:spcBef>
              <a:spcAft>
                <a:spcPct val="0"/>
              </a:spcAft>
            </a:pPr>
            <a:r>
              <a:rPr lang="en-US" sz="1000" baseline="0" spc="-7">
                <a:solidFill>
                  <a:srgbClr val="000000"/>
                </a:solidFill>
                <a:latin typeface="Arial"/>
              </a:rPr>
              <a:t>-​ Manage power: recharge, enter sleep or safe mode, adjust solar panels.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1100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(iv)​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Performance measure </a:t>
            </a:r>
          </a:p>
          <a:p>
            <a:pPr marL="66040" marR="0" indent="0" hangingPunct="false" algn="l">
              <a:lnSpc>
                <a:spcPts val="1110"/>
              </a:lnSpc>
              <a:spcBef>
                <a:spcPts val="860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Science value: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number and quality of samples analysed; discovery of useful evidence (water, </a:t>
            </a:r>
          </a:p>
          <a:p>
            <a:pPr marL="19050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organic compounds). </a:t>
            </a:r>
          </a:p>
          <a:p>
            <a:pPr marL="46990" marR="0" indent="0" hangingPunct="false" algn="l">
              <a:lnSpc>
                <a:spcPts val="1120"/>
              </a:lnSpc>
              <a:spcBef>
                <a:spcPts val="469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Data return: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amount of valid data successfully transmitted to Earth. </a:t>
            </a:r>
          </a:p>
          <a:p>
            <a:pPr marL="46990" marR="0" indent="0" hangingPunct="false" algn="l">
              <a:lnSpc>
                <a:spcPts val="1120"/>
              </a:lnSpc>
              <a:spcBef>
                <a:spcPts val="480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Coverage and efficiency: </a:t>
            </a:r>
            <a:r>
              <a:rPr lang="en-US" sz="1000" baseline="0" spc="-13">
                <a:solidFill>
                  <a:srgbClr val="000000"/>
                </a:solidFill>
                <a:latin typeface="Arial"/>
              </a:rPr>
              <a:t>area explored per unit of energy and time. </a:t>
            </a:r>
          </a:p>
          <a:p>
            <a:pPr marL="66040" marR="0" indent="0" hangingPunct="false" algn="l">
              <a:lnSpc>
                <a:spcPts val="1120"/>
              </a:lnSpc>
              <a:spcBef>
                <a:spcPts val="490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Safety and survival: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no collisions, falls or stuck wheels; mission lifetime and battery </a:t>
            </a:r>
          </a:p>
          <a:p>
            <a:pPr marL="190500" marR="0" indent="0" hangingPunct="false" algn="l">
              <a:lnSpc>
                <a:spcPts val="1120"/>
              </a:lnSpc>
              <a:spcBef>
                <a:spcPts val="270"/>
              </a:spcBef>
              <a:spcAft>
                <a:spcPct val="0"/>
              </a:spcAft>
            </a:pP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health maintained.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96290" y="723900"/>
            <a:ext cx="5963920" cy="26238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-12">
                <a:solidFill>
                  <a:srgbClr val="000000"/>
                </a:solidFill>
                <a:latin typeface="Arial"/>
              </a:rPr>
              <a:t>A combined score can be used, for example: Performance = w1 x (valuable samples) + w2 x (data </a:t>
            </a:r>
            <a:endParaRPr lang="en-US" sz="1100"/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11">
                <a:solidFill>
                  <a:srgbClr val="000000"/>
                </a:solidFill>
                <a:latin typeface="Arial"/>
              </a:rPr>
              <a:t>transmitted) + w3 x (area explored) - w4 x (energy used) - w5 x (risk events).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1080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(v)​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Most suitable agent architecture and why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86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A 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utility-based, learning agent </a:t>
            </a:r>
            <a:r>
              <a:rPr lang="en-US" sz="1000" baseline="0" spc="-13">
                <a:solidFill>
                  <a:srgbClr val="000000"/>
                </a:solidFill>
                <a:latin typeface="Arial"/>
              </a:rPr>
              <a:t>built as a 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hierarchical (layered) architecture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is most suitable. </a:t>
            </a:r>
          </a:p>
          <a:p>
            <a:pPr marL="66040" marR="0" indent="0" hangingPunct="false" algn="l">
              <a:lnSpc>
                <a:spcPts val="1120"/>
              </a:lnSpc>
              <a:spcBef>
                <a:spcPts val="790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Reflex layer (low level):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immediate responses such as stopping when a cliff or steep tilt is </a:t>
            </a:r>
          </a:p>
          <a:p>
            <a:pPr marL="190500" marR="0" indent="0" hangingPunct="false" algn="l">
              <a:lnSpc>
                <a:spcPts val="1120"/>
              </a:lnSpc>
              <a:spcBef>
                <a:spcPts val="270"/>
              </a:spcBef>
              <a:spcAft>
                <a:spcPct val="0"/>
              </a:spcAft>
            </a:pP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sensed. This is needed because radio delay from Earth is several minutes. </a:t>
            </a:r>
          </a:p>
          <a:p>
            <a:pPr marL="46990" marR="0" indent="0" hangingPunct="false" algn="l">
              <a:lnSpc>
                <a:spcPts val="1120"/>
              </a:lnSpc>
              <a:spcBef>
                <a:spcPts val="469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Goal/planning layer: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plans routes to target rocks using search (A*) and a map built from the percepts. </a:t>
            </a:r>
          </a:p>
          <a:p>
            <a:pPr marL="66040" marR="0" indent="0" hangingPunct="false" algn="l">
              <a:lnSpc>
                <a:spcPts val="1120"/>
              </a:lnSpc>
              <a:spcBef>
                <a:spcPts val="490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Utility layer: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trades off conflicting goals - science value vs. energy, time and risk - and picks the </a:t>
            </a:r>
          </a:p>
          <a:p>
            <a:pPr marL="190500" marR="0" indent="0" hangingPunct="false" algn="l">
              <a:lnSpc>
                <a:spcPts val="1120"/>
              </a:lnSpc>
              <a:spcBef>
                <a:spcPts val="27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best action among many good ones. </a:t>
            </a:r>
          </a:p>
          <a:p>
            <a:pPr marL="66040" marR="0" indent="0" hangingPunct="false" algn="l">
              <a:lnSpc>
                <a:spcPts val="1120"/>
              </a:lnSpc>
              <a:spcBef>
                <a:spcPts val="480"/>
              </a:spcBef>
              <a:spcAft>
                <a:spcPct val="0"/>
              </a:spcAft>
            </a:pPr>
            <a:r>
              <a:rPr lang="en-US" sz="1000" baseline="0">
                <a:solidFill>
                  <a:srgbClr val="000000"/>
                </a:solidFill>
                <a:latin typeface="Arial"/>
              </a:rPr>
              <a:t>-​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 Learning element: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improves terrain classification and sample selection with experience, since </a:t>
            </a:r>
          </a:p>
          <a:p>
            <a:pPr marL="190500" marR="0" indent="0" hangingPunct="false" algn="l">
              <a:lnSpc>
                <a:spcPts val="1120"/>
              </a:lnSpc>
              <a:spcBef>
                <a:spcPts val="27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the environment is partially observable, stochastic and unknown. </a:t>
            </a:r>
          </a:p>
          <a:p>
            <a:pPr marL="66040" marR="0" indent="0" hangingPunct="false" algn="l">
              <a:lnSpc>
                <a:spcPts val="1110"/>
              </a:lnSpc>
              <a:spcBef>
                <a:spcPts val="480"/>
              </a:spcBef>
              <a:spcAft>
                <a:spcPct val="0"/>
              </a:spcAft>
            </a:pPr>
            <a:r>
              <a:rPr lang="en-US" sz="1000" baseline="0" spc="-10">
                <a:solidFill>
                  <a:srgbClr val="000000"/>
                </a:solidFill>
                <a:latin typeface="Arial"/>
              </a:rPr>
              <a:t>-​ A simple reflex or model-based reflex agent alone is not enough because the task needs </a:t>
            </a:r>
          </a:p>
          <a:p>
            <a:pPr marL="190500" marR="0" indent="0" hangingPunct="false" algn="l">
              <a:lnSpc>
                <a:spcPts val="111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foresight, memory of the map, and balancing multiple objectives.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43990" y="815975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3" id="3"/>
          <p:cNvSpPr/>
          <p:nvPr/>
        </p:nvSpPr>
        <p:spPr>
          <a:xfrm>
            <a:off x="2091690" y="815975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4" id="4"/>
          <p:cNvSpPr/>
          <p:nvPr/>
        </p:nvSpPr>
        <p:spPr>
          <a:xfrm>
            <a:off x="2739390" y="815975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5" id="5"/>
          <p:cNvSpPr/>
          <p:nvPr/>
        </p:nvSpPr>
        <p:spPr>
          <a:xfrm>
            <a:off x="1120140" y="848360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6" id="6"/>
          <p:cNvSpPr/>
          <p:nvPr/>
        </p:nvSpPr>
        <p:spPr>
          <a:xfrm>
            <a:off x="1767840" y="848360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7" id="7"/>
          <p:cNvSpPr/>
          <p:nvPr/>
        </p:nvSpPr>
        <p:spPr>
          <a:xfrm>
            <a:off x="2415540" y="848360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8" id="8"/>
          <p:cNvSpPr/>
          <p:nvPr/>
        </p:nvSpPr>
        <p:spPr>
          <a:xfrm>
            <a:off x="3063240" y="8483600"/>
            <a:ext cx="32258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9" id="9"/>
          <p:cNvSpPr/>
          <p:nvPr/>
        </p:nvSpPr>
        <p:spPr>
          <a:xfrm>
            <a:off x="795020" y="8807450"/>
            <a:ext cx="32512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0" id="10"/>
          <p:cNvSpPr/>
          <p:nvPr/>
        </p:nvSpPr>
        <p:spPr>
          <a:xfrm>
            <a:off x="1443990" y="880745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1" id="11"/>
          <p:cNvSpPr/>
          <p:nvPr/>
        </p:nvSpPr>
        <p:spPr>
          <a:xfrm>
            <a:off x="2739390" y="880745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2" id="12"/>
          <p:cNvSpPr/>
          <p:nvPr/>
        </p:nvSpPr>
        <p:spPr>
          <a:xfrm>
            <a:off x="1120140" y="913130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3" id="13"/>
          <p:cNvSpPr/>
          <p:nvPr/>
        </p:nvSpPr>
        <p:spPr>
          <a:xfrm>
            <a:off x="1767840" y="913130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4" id="14"/>
          <p:cNvSpPr/>
          <p:nvPr/>
        </p:nvSpPr>
        <p:spPr>
          <a:xfrm>
            <a:off x="2415540" y="913130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5" id="15"/>
          <p:cNvSpPr/>
          <p:nvPr/>
        </p:nvSpPr>
        <p:spPr>
          <a:xfrm>
            <a:off x="795020" y="9455150"/>
            <a:ext cx="32512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6" id="16"/>
          <p:cNvSpPr/>
          <p:nvPr/>
        </p:nvSpPr>
        <p:spPr>
          <a:xfrm>
            <a:off x="1443990" y="945515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7" id="17"/>
          <p:cNvSpPr/>
          <p:nvPr/>
        </p:nvSpPr>
        <p:spPr>
          <a:xfrm>
            <a:off x="2091690" y="945515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8" id="18"/>
          <p:cNvSpPr/>
          <p:nvPr/>
        </p:nvSpPr>
        <p:spPr>
          <a:xfrm>
            <a:off x="2739390" y="9455150"/>
            <a:ext cx="323850" cy="323850"/>
          </a:xfrm>
          <a:prstGeom prst="rect">
            <a:avLst/>
          </a:prstGeom>
          <a:solidFill>
            <a:srgbClr val="E7E7E7"/>
          </a:solidFill>
        </p:spPr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819150" y="2787650"/>
          <a:ext cx="5943600" cy="1955800"/>
        </p:xfrm>
        <a:graphic>
          <a:graphicData uri="http://schemas.openxmlformats.org/drawingml/2006/table">
            <a:tbl>
              <a:tblPr/>
              <a:tblGrid>
                <a:gridCol w="1257300"/>
                <a:gridCol w="4686300"/>
              </a:tblGrid>
              <a:tr h="228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Definition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9">
                          <a:solidFill>
                            <a:srgbClr val="000000"/>
                          </a:solidFill>
                          <a:latin typeface="Arial"/>
                        </a:rPr>
                        <a:t>States </a:t>
                      </a:r>
                      <a:endParaRPr lang="en-US" sz="1100"/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Any arrangement of 0 to 8 queens on the board. (Efficient version: one queen per column, </a:t>
                      </a:r>
                      <a:endParaRPr lang="en-US" sz="1100"/>
                    </a:p>
                    <a:p>
                      <a:pPr marL="74930" marR="0" indent="0" hangingPunct="false" algn="l">
                        <a:lnSpc>
                          <a:spcPts val="950"/>
                        </a:lnSpc>
                        <a:spcBef>
                          <a:spcPts val="16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11">
                          <a:solidFill>
                            <a:srgbClr val="000000"/>
                          </a:solidFill>
                          <a:latin typeface="Arial"/>
                        </a:rPr>
                        <a:t>queens placed left to right, each in a non-attacked square.) </a:t>
                      </a:r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2">
                          <a:solidFill>
                            <a:srgbClr val="000000"/>
                          </a:solidFill>
                          <a:latin typeface="Arial"/>
                        </a:rPr>
                        <a:t>Initial state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Empty board with no queens.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Actions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Add a queen to the leftmost empty column in any row that is not attacked by a queen already </a:t>
                      </a:r>
                      <a:endParaRPr lang="en-US" sz="1100"/>
                    </a:p>
                    <a:p>
                      <a:pPr marL="74930" marR="0" indent="0" hangingPunct="false" algn="l">
                        <a:lnSpc>
                          <a:spcPts val="950"/>
                        </a:lnSpc>
                        <a:spcBef>
                          <a:spcPts val="16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placed. (Complete-state version: move a queen within its column.) </a:t>
                      </a:r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Transition model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2">
                          <a:solidFill>
                            <a:srgbClr val="000000"/>
                          </a:solidFill>
                          <a:latin typeface="Arial"/>
                        </a:rPr>
                        <a:t>Result(s, a) returns the board with the new queen added in the chosen square.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0">
                          <a:solidFill>
                            <a:srgbClr val="000000"/>
                          </a:solidFill>
                          <a:latin typeface="Arial"/>
                        </a:rPr>
                        <a:t>Goal test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8 queens are on the board and no two attack each other (distinct rows, distinct columns, </a:t>
                      </a:r>
                      <a:endParaRPr lang="en-US" sz="1100"/>
                    </a:p>
                    <a:p>
                      <a:pPr marL="74930" marR="0" indent="0" hangingPunct="false" algn="l">
                        <a:lnSpc>
                          <a:spcPts val="950"/>
                        </a:lnSpc>
                        <a:spcBef>
                          <a:spcPts val="16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distinct diagonals). </a:t>
                      </a:r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Path cost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1">
                          <a:solidFill>
                            <a:srgbClr val="000000"/>
                          </a:solidFill>
                          <a:latin typeface="Arial"/>
                        </a:rPr>
                        <a:t>Not important here - only the final arrangement matters (each placement may be given cost 1).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819150" y="5124450"/>
          <a:ext cx="5943600" cy="1308100"/>
        </p:xfrm>
        <a:graphic>
          <a:graphicData uri="http://schemas.openxmlformats.org/drawingml/2006/table">
            <a:tbl>
              <a:tblPr/>
              <a:tblGrid>
                <a:gridCol w="3594100"/>
                <a:gridCol w="23495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Formulation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Size of search space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Any 8 queens on any of 64 squares (combinations)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4">
                          <a:solidFill>
                            <a:srgbClr val="000000"/>
                          </a:solidFill>
                          <a:latin typeface="Arial"/>
                        </a:rPr>
                        <a:t>C(64,8) = about 4.4 x 10^9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1">
                          <a:solidFill>
                            <a:srgbClr val="000000"/>
                          </a:solidFill>
                          <a:latin typeface="Arial"/>
                        </a:rPr>
                        <a:t>Add queens one at a time on any square (sequences)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4">
                          <a:solidFill>
                            <a:srgbClr val="000000"/>
                          </a:solidFill>
                          <a:latin typeface="Arial"/>
                        </a:rPr>
                        <a:t>64 x 63 x ... x 57 = about 1.8 x 10^14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2">
                          <a:solidFill>
                            <a:srgbClr val="000000"/>
                          </a:solidFill>
                          <a:latin typeface="Arial"/>
                        </a:rPr>
                        <a:t>One queen per column, any row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8^8 = 16,777,216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2">
                          <a:solidFill>
                            <a:srgbClr val="000000"/>
                          </a:solidFill>
                          <a:latin typeface="Arial"/>
                        </a:rPr>
                        <a:t>One queen per row and per column (permutations)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8! = 40,320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Incremental, only non-attacked squares allowed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8">
                          <a:solidFill>
                            <a:srgbClr val="000000"/>
                          </a:solidFill>
                          <a:latin typeface="Arial"/>
                        </a:rPr>
                        <a:t>Only 2,057 states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793750" y="8159750"/>
          <a:ext cx="2590800" cy="1625600"/>
        </p:xfrm>
        <a:graphic>
          <a:graphicData uri="http://schemas.openxmlformats.org/drawingml/2006/table">
            <a:tbl>
              <a:tblPr/>
              <a:tblGrid>
                <a:gridCol w="330200"/>
                <a:gridCol w="317500"/>
                <a:gridCol w="330200"/>
                <a:gridCol w="317500"/>
                <a:gridCol w="330200"/>
                <a:gridCol w="317500"/>
                <a:gridCol w="330200"/>
                <a:gridCol w="317500"/>
              </a:tblGrid>
              <a:tr h="330200">
                <a:tc>
                  <a:txBody>
                    <a:bodyPr anchor="t" rtlCol="false" anchorCtr="false" wrap="none"/>
                    <a:lstStyle/>
                    <a:p>
                      <a:pPr algn="r" marL="0" marR="63500" indent="0" hangingPunct="false">
                        <a:lnSpc>
                          <a:spcPts val="11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900" b="true" baseline="0" spc="1">
                          <a:solidFill>
                            <a:srgbClr val="000000"/>
                          </a:solidFill>
                          <a:latin typeface="Arial"/>
                        </a:rPr>
                        <a:t>Q </a:t>
                      </a:r>
                      <a:endParaRPr lang="en-US" sz="1100"/>
                    </a:p>
                  </a:txBody>
                  <a:tcPr anchor="t" marT="97790" marB="0" marL="0" marR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63500" indent="0" hangingPunct="false">
                        <a:lnSpc>
                          <a:spcPts val="11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900" b="true" baseline="0" spc="1">
                          <a:solidFill>
                            <a:srgbClr val="000000"/>
                          </a:solidFill>
                          <a:latin typeface="Arial"/>
                        </a:rPr>
                        <a:t>Q </a:t>
                      </a:r>
                      <a:endParaRPr lang="en-US" sz="1100"/>
                    </a:p>
                  </a:txBody>
                  <a:tcPr anchor="t" marT="91440" marB="0" marL="0" marR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63500" indent="0" hangingPunct="false">
                        <a:lnSpc>
                          <a:spcPts val="11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900" b="true" baseline="0" spc="1">
                          <a:solidFill>
                            <a:srgbClr val="000000"/>
                          </a:solidFill>
                          <a:latin typeface="Arial"/>
                        </a:rPr>
                        <a:t>Q </a:t>
                      </a:r>
                      <a:endParaRPr lang="en-US" sz="1100"/>
                    </a:p>
                  </a:txBody>
                  <a:tcPr anchor="t" marT="97790" marB="0" marL="0" marR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57150" indent="0" hangingPunct="false">
                        <a:lnSpc>
                          <a:spcPts val="11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900" b="true" baseline="0" spc="1">
                          <a:solidFill>
                            <a:srgbClr val="000000"/>
                          </a:solidFill>
                          <a:latin typeface="Arial"/>
                        </a:rPr>
                        <a:t>Q </a:t>
                      </a:r>
                      <a:endParaRPr lang="en-US" sz="1100"/>
                    </a:p>
                  </a:txBody>
                  <a:tcPr anchor="t" marT="91440" marB="0" marL="0" marR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175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57150" indent="0" hangingPunct="false">
                        <a:lnSpc>
                          <a:spcPts val="11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900" b="true" baseline="0" spc="1">
                          <a:solidFill>
                            <a:srgbClr val="000000"/>
                          </a:solidFill>
                          <a:latin typeface="Arial"/>
                        </a:rPr>
                        <a:t>Q </a:t>
                      </a:r>
                      <a:endParaRPr lang="en-US" sz="1100"/>
                    </a:p>
                  </a:txBody>
                  <a:tcPr anchor="t" marT="97790" marB="0" marL="0" marR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9" id="19"/>
          <p:cNvSpPr txBox="true"/>
          <p:nvPr/>
        </p:nvSpPr>
        <p:spPr>
          <a:xfrm>
            <a:off x="796290" y="730250"/>
            <a:ext cx="5906770" cy="196723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20">
                <a:solidFill>
                  <a:srgbClr val="000000"/>
                </a:solidFill>
                <a:latin typeface="Arial"/>
              </a:rPr>
              <a:t>Question 3: 8-Queens Problem - Search Space and Problem </a:t>
            </a:r>
            <a:endParaRPr lang="en-US" sz="1100"/>
          </a:p>
          <a:p>
            <a:pPr marL="0" marR="0" indent="0" hangingPunct="false" algn="l">
              <a:lnSpc>
                <a:spcPts val="1570"/>
              </a:lnSpc>
              <a:spcBef>
                <a:spcPts val="619"/>
              </a:spcBef>
              <a:spcAft>
                <a:spcPct val="0"/>
              </a:spcAft>
            </a:pPr>
            <a:r>
              <a:rPr lang="en-US" sz="1400" b="true" baseline="0" spc="34">
                <a:solidFill>
                  <a:srgbClr val="000000"/>
                </a:solidFill>
                <a:latin typeface="Arial"/>
              </a:rPr>
              <a:t>Formulation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2050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1.​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Problem understanding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850"/>
              </a:spcBef>
              <a:spcAft>
                <a:spcPct val="0"/>
              </a:spcAft>
            </a:pPr>
            <a:r>
              <a:rPr lang="en-US" sz="1000" baseline="0" spc="-12">
                <a:solidFill>
                  <a:srgbClr val="000000"/>
                </a:solidFill>
                <a:latin typeface="Arial"/>
              </a:rPr>
              <a:t>Two queens attack each other if they share a row, a column or a diagonal. A valid solution therefore has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exactly one queen in each row and each column and no two queens on a common diagonal. In the given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figure, the first-column and last-column queens lie on one diagonal (they are 7 columns apart and 7 rows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apart), so the configuration fails the goal test even though it looks complete.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1069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2.​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Problem formulation (components) 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796290" y="4870450"/>
            <a:ext cx="2006600" cy="15494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27">
                <a:solidFill>
                  <a:srgbClr val="2A5B88"/>
                </a:solidFill>
                <a:latin typeface="Arial"/>
              </a:rPr>
              <a:t>3.​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Exploring the search space 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796290" y="6504940"/>
            <a:ext cx="5982970" cy="15722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25">
                <a:solidFill>
                  <a:srgbClr val="000000"/>
                </a:solidFill>
                <a:latin typeface="Arial"/>
              </a:rPr>
              <a:t>Strategies: </a:t>
            </a:r>
            <a:r>
              <a:rPr lang="en-US" sz="1000" baseline="0" spc="1">
                <a:solidFill>
                  <a:srgbClr val="000000"/>
                </a:solidFill>
                <a:latin typeface="Arial"/>
              </a:rPr>
              <a:t>(a) 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Depth-first search with backtracking </a:t>
            </a:r>
            <a:r>
              <a:rPr lang="en-US" sz="1000" baseline="0" spc="-13">
                <a:solidFill>
                  <a:srgbClr val="000000"/>
                </a:solidFill>
                <a:latin typeface="Arial"/>
              </a:rPr>
              <a:t>- place a queen in column 1, then column 2 in a </a:t>
            </a:r>
            <a:endParaRPr lang="en-US" sz="1100"/>
          </a:p>
          <a:p>
            <a:pPr marL="0" marR="0" indent="0" hangingPunct="false" algn="l">
              <a:lnSpc>
                <a:spcPts val="1110"/>
              </a:lnSpc>
              <a:spcBef>
                <a:spcPts val="29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safe row, and so on; when a column has no safe row, backtrack. This is the standard and most efficient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29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systematic method. (b) </a:t>
            </a:r>
            <a:r>
              <a:rPr lang="en-US" sz="1000" b="true" baseline="0" spc="5">
                <a:solidFill>
                  <a:srgbClr val="000000"/>
                </a:solidFill>
                <a:latin typeface="Arial"/>
              </a:rPr>
              <a:t>BFS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works but stores many partial boards, so memory is large. (c) 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Local search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(hill climbing, min-conflicts, simulated annealing) starts with all 8 queens on the board and repeatedly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moves one queen to reduce the number of attacking pairs; it solves even very large n quickly. </a:t>
            </a:r>
          </a:p>
          <a:p>
            <a:pPr marL="0" marR="0" indent="0" hangingPunct="false" algn="l">
              <a:lnSpc>
                <a:spcPts val="1220"/>
              </a:lnSpc>
              <a:spcBef>
                <a:spcPts val="1080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4.​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Solution and interpretation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860"/>
              </a:spcBef>
              <a:spcAft>
                <a:spcPct val="0"/>
              </a:spcAft>
            </a:pPr>
            <a:r>
              <a:rPr lang="en-US" sz="1000" baseline="0" spc="-10">
                <a:solidFill>
                  <a:srgbClr val="000000"/>
                </a:solidFill>
                <a:latin typeface="Arial"/>
              </a:rPr>
              <a:t>The puzzle has 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92 solutions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(12 distinct ones after removing rotations and reflections). One valid solution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29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lists the row of the queen in columns 1 to 8 as </a:t>
            </a:r>
            <a:r>
              <a:rPr lang="en-US" sz="1000" b="true" baseline="0" spc="1">
                <a:solidFill>
                  <a:srgbClr val="000000"/>
                </a:solidFill>
                <a:latin typeface="Arial"/>
              </a:rPr>
              <a:t>(1, 5, 8, 6, 3, 7, 2, 4)</a:t>
            </a:r>
            <a:r>
              <a:rPr lang="en-US" sz="1000" baseline="0" spc="-13">
                <a:solidFill>
                  <a:srgbClr val="000000"/>
                </a:solidFill>
                <a:latin typeface="Arial"/>
              </a:rPr>
              <a:t>: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20140" y="955040"/>
            <a:ext cx="323850" cy="32512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3" id="3"/>
          <p:cNvSpPr/>
          <p:nvPr/>
        </p:nvSpPr>
        <p:spPr>
          <a:xfrm>
            <a:off x="2415540" y="955040"/>
            <a:ext cx="323850" cy="32512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4" id="4"/>
          <p:cNvSpPr/>
          <p:nvPr/>
        </p:nvSpPr>
        <p:spPr>
          <a:xfrm>
            <a:off x="3063240" y="955040"/>
            <a:ext cx="322580" cy="32512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5" id="5"/>
          <p:cNvSpPr/>
          <p:nvPr/>
        </p:nvSpPr>
        <p:spPr>
          <a:xfrm>
            <a:off x="795020" y="1280160"/>
            <a:ext cx="325120" cy="32258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6" id="6"/>
          <p:cNvSpPr/>
          <p:nvPr/>
        </p:nvSpPr>
        <p:spPr>
          <a:xfrm>
            <a:off x="1443990" y="1280160"/>
            <a:ext cx="323850" cy="32258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7" id="7"/>
          <p:cNvSpPr/>
          <p:nvPr/>
        </p:nvSpPr>
        <p:spPr>
          <a:xfrm>
            <a:off x="2091690" y="1280160"/>
            <a:ext cx="323850" cy="32258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8" id="8"/>
          <p:cNvSpPr/>
          <p:nvPr/>
        </p:nvSpPr>
        <p:spPr>
          <a:xfrm>
            <a:off x="2739390" y="1280160"/>
            <a:ext cx="323850" cy="32258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9" id="9"/>
          <p:cNvSpPr/>
          <p:nvPr/>
        </p:nvSpPr>
        <p:spPr>
          <a:xfrm>
            <a:off x="1120140" y="1602740"/>
            <a:ext cx="323850" cy="32512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0" id="10"/>
          <p:cNvSpPr/>
          <p:nvPr/>
        </p:nvSpPr>
        <p:spPr>
          <a:xfrm>
            <a:off x="1767840" y="1602740"/>
            <a:ext cx="323850" cy="32512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1" id="11"/>
          <p:cNvSpPr/>
          <p:nvPr/>
        </p:nvSpPr>
        <p:spPr>
          <a:xfrm>
            <a:off x="2415540" y="1602740"/>
            <a:ext cx="323850" cy="325120"/>
          </a:xfrm>
          <a:prstGeom prst="rect">
            <a:avLst/>
          </a:prstGeom>
          <a:solidFill>
            <a:srgbClr val="E7E7E7"/>
          </a:solidFill>
        </p:spPr>
      </p:sp>
      <p:sp>
        <p:nvSpPr>
          <p:cNvPr name="AutoShape 12" id="12"/>
          <p:cNvSpPr/>
          <p:nvPr/>
        </p:nvSpPr>
        <p:spPr>
          <a:xfrm>
            <a:off x="3063240" y="1602740"/>
            <a:ext cx="322580" cy="325120"/>
          </a:xfrm>
          <a:prstGeom prst="rect">
            <a:avLst/>
          </a:prstGeom>
          <a:solidFill>
            <a:srgbClr val="E7E7E7"/>
          </a:solidFill>
        </p:spPr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793750" y="958850"/>
          <a:ext cx="2590800" cy="965200"/>
        </p:xfrm>
        <a:graphic>
          <a:graphicData uri="http://schemas.openxmlformats.org/drawingml/2006/table">
            <a:tbl>
              <a:tblPr/>
              <a:tblGrid>
                <a:gridCol w="330200"/>
                <a:gridCol w="317500"/>
                <a:gridCol w="330200"/>
                <a:gridCol w="317500"/>
                <a:gridCol w="330200"/>
                <a:gridCol w="317500"/>
                <a:gridCol w="330200"/>
                <a:gridCol w="317500"/>
              </a:tblGrid>
              <a:tr h="3175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57150" indent="0" hangingPunct="false">
                        <a:lnSpc>
                          <a:spcPts val="11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900" b="true" baseline="0" spc="1">
                          <a:solidFill>
                            <a:srgbClr val="000000"/>
                          </a:solidFill>
                          <a:latin typeface="Arial"/>
                        </a:rPr>
                        <a:t>Q </a:t>
                      </a:r>
                      <a:endParaRPr lang="en-US" sz="1100"/>
                    </a:p>
                  </a:txBody>
                  <a:tcPr anchor="t" marT="93980" marB="0" marL="0" marR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57150" indent="0" hangingPunct="false">
                        <a:lnSpc>
                          <a:spcPts val="11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900" b="true" baseline="0" spc="1">
                          <a:solidFill>
                            <a:srgbClr val="000000"/>
                          </a:solidFill>
                          <a:latin typeface="Arial"/>
                        </a:rPr>
                        <a:t>Q </a:t>
                      </a:r>
                      <a:endParaRPr lang="en-US" sz="1100"/>
                    </a:p>
                  </a:txBody>
                  <a:tcPr anchor="t" marT="100330" marB="0" marL="0" marR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r" marL="0" marR="63500" indent="0" hangingPunct="false">
                        <a:lnSpc>
                          <a:spcPts val="111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900" b="true" baseline="0" spc="1">
                          <a:solidFill>
                            <a:srgbClr val="000000"/>
                          </a:solidFill>
                          <a:latin typeface="Arial"/>
                        </a:rPr>
                        <a:t>Q </a:t>
                      </a:r>
                      <a:endParaRPr lang="en-US" sz="1100"/>
                    </a:p>
                  </a:txBody>
                  <a:tcPr anchor="t" marT="93980" marB="0" marL="0" marR="0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r>
                        <a:rPr lang="en-US" sz="100"/>
                        <a:t/>
                      </a:r>
                      <a:endParaRPr lang="en-US" sz="1100"/>
                    </a:p>
                  </a:txBody>
                  <a:tcPr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>
            <a:off x="796290" y="2020570"/>
            <a:ext cx="5782310" cy="6743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1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25">
                <a:solidFill>
                  <a:srgbClr val="000000"/>
                </a:solidFill>
                <a:latin typeface="Arial"/>
              </a:rPr>
              <a:t>Verification: </a:t>
            </a:r>
            <a:r>
              <a:rPr lang="en-US" sz="1000" baseline="0" spc="-9">
                <a:solidFill>
                  <a:srgbClr val="000000"/>
                </a:solidFill>
                <a:latin typeface="Arial"/>
              </a:rPr>
              <a:t>rows 1,5,8,6,3,7,2,4 are all different. Row-minus-column values (0,3,5,2,-2,1,-5,-4) are all </a:t>
            </a:r>
            <a:endParaRPr lang="en-US" sz="1100"/>
          </a:p>
          <a:p>
            <a:pPr marL="0" marR="0" indent="0" hangingPunct="false" algn="l">
              <a:lnSpc>
                <a:spcPts val="1110"/>
              </a:lnSpc>
              <a:spcBef>
                <a:spcPts val="290"/>
              </a:spcBef>
              <a:spcAft>
                <a:spcPct val="0"/>
              </a:spcAft>
            </a:pPr>
            <a:r>
              <a:rPr lang="en-US" sz="1000" baseline="0" spc="-13">
                <a:solidFill>
                  <a:srgbClr val="000000"/>
                </a:solidFill>
                <a:latin typeface="Arial"/>
              </a:rPr>
              <a:t>different and row-plus-column values (2,7,11,10,8,13,9,12) are all different, so no two queens share a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290"/>
              </a:spcBef>
              <a:spcAft>
                <a:spcPct val="0"/>
              </a:spcAft>
            </a:pP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diagonal. The first-column queen (row 1) and last-column queen (row 4) are not on the same diagonal,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unlike the figure.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19150" y="1289050"/>
          <a:ext cx="5930900" cy="1524000"/>
        </p:xfrm>
        <a:graphic>
          <a:graphicData uri="http://schemas.openxmlformats.org/drawingml/2006/table">
            <a:tbl>
              <a:tblPr/>
              <a:tblGrid>
                <a:gridCol w="1066800"/>
                <a:gridCol w="48641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3">
                          <a:solidFill>
                            <a:srgbClr val="FFFFFF"/>
                          </a:solidFill>
                          <a:latin typeface="Arial"/>
                        </a:rPr>
                        <a:t>PEAS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1">
                          <a:solidFill>
                            <a:srgbClr val="000000"/>
                          </a:solidFill>
                          <a:latin typeface="Arial"/>
                        </a:rPr>
                        <a:t>Performance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Customer satisfaction, trip comfort, low fare, short waiting time/ETA, safety, successful booking. 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Environment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OLA app, map and traffic data, available drivers and cab types, fares and surge pricing, customer </a:t>
                      </a:r>
                      <a:endParaRPr lang="en-US" sz="1100"/>
                    </a:p>
                    <a:p>
                      <a:pPr marL="85090" marR="0" indent="0" hangingPunct="false" algn="l">
                        <a:lnSpc>
                          <a:spcPts val="950"/>
                        </a:lnSpc>
                        <a:spcBef>
                          <a:spcPts val="16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preferences. Partially observable, stochastic (traffic, driver cancellations), dynamic, sequential. </a:t>
                      </a:r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Actuators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Display options, select/confirm cab type, assign driver, show route, send notifications, process </a:t>
                      </a:r>
                      <a:endParaRPr lang="en-US" sz="1100"/>
                    </a:p>
                    <a:p>
                      <a:pPr marL="85090" marR="0" indent="0" hangingPunct="false" algn="l">
                        <a:lnSpc>
                          <a:spcPts val="950"/>
                        </a:lnSpc>
                        <a:spcBef>
                          <a:spcPts val="15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11">
                          <a:solidFill>
                            <a:srgbClr val="000000"/>
                          </a:solidFill>
                          <a:latin typeface="Arial"/>
                        </a:rPr>
                        <a:t>payment. </a:t>
                      </a:r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Sensors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Pickup and drop location (GPS), user selection and comfort preference, traffic data, driver location, </a:t>
                      </a:r>
                      <a:endParaRPr lang="en-US" sz="1100"/>
                    </a:p>
                    <a:p>
                      <a:pPr marL="85090" marR="0" indent="0" hangingPunct="false" algn="l">
                        <a:lnSpc>
                          <a:spcPts val="950"/>
                        </a:lnSpc>
                        <a:spcBef>
                          <a:spcPts val="15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8">
                          <a:solidFill>
                            <a:srgbClr val="000000"/>
                          </a:solidFill>
                          <a:latin typeface="Arial"/>
                        </a:rPr>
                        <a:t>fare estimate. </a:t>
                      </a:r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" id="2"/>
          <p:cNvSpPr txBox="true"/>
          <p:nvPr/>
        </p:nvSpPr>
        <p:spPr>
          <a:xfrm>
            <a:off x="796290" y="728980"/>
            <a:ext cx="5396230" cy="4673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20">
                <a:solidFill>
                  <a:srgbClr val="000000"/>
                </a:solidFill>
                <a:latin typeface="Arial"/>
              </a:rPr>
              <a:t>Question 4: OLA Cab Booking - Type of Agent and Pseudocode </a:t>
            </a:r>
            <a:endParaRPr lang="en-US" sz="1100"/>
          </a:p>
          <a:p>
            <a:pPr marL="0" marR="0" indent="0" hangingPunct="false" algn="l">
              <a:lnSpc>
                <a:spcPts val="1230"/>
              </a:lnSpc>
              <a:spcBef>
                <a:spcPts val="889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1.​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Problem understanding 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796290" y="2936240"/>
            <a:ext cx="5981700" cy="22034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3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27">
                <a:solidFill>
                  <a:srgbClr val="2A5B88"/>
                </a:solidFill>
                <a:latin typeface="Arial"/>
              </a:rPr>
              <a:t>2.​</a:t>
            </a:r>
            <a:r>
              <a:rPr lang="en-US" sz="1100" b="true" baseline="0" spc="9">
                <a:solidFill>
                  <a:srgbClr val="000000"/>
                </a:solidFill>
                <a:latin typeface="Arial"/>
              </a:rPr>
              <a:t>Type of agent </a:t>
            </a:r>
            <a:endParaRPr lang="en-US" sz="1100"/>
          </a:p>
          <a:p>
            <a:pPr marL="0" marR="0" indent="0" hangingPunct="false" algn="l">
              <a:lnSpc>
                <a:spcPts val="1110"/>
              </a:lnSpc>
              <a:spcBef>
                <a:spcPts val="86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A 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utility-based agent 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(a goal-based agent with a utility function) is most suitable. The goal is to reach the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29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destination, but several cab types can reach it; they differ in comfort, price and waiting time. A pure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290"/>
              </a:spcBef>
              <a:spcAft>
                <a:spcPct val="0"/>
              </a:spcAft>
            </a:pP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goal-based agent only knows "reached / not reached", so it cannot choose the best option. The utility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function scores each cab type using the customer's comfort preference, fare, and ETA, and the agent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picks the highest-utility option.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740"/>
              </a:spcBef>
              <a:spcAft>
                <a:spcPct val="0"/>
              </a:spcAft>
            </a:pPr>
            <a:r>
              <a:rPr lang="en-US" sz="1000" baseline="0" spc="-10">
                <a:solidFill>
                  <a:srgbClr val="000000"/>
                </a:solidFill>
                <a:latin typeface="Arial"/>
              </a:rPr>
              <a:t>Utility of a cab type c: U(c) = w1 x Comfort(c) - w2 x Fare(c) - w3 x ETA(c) + w4 x Rating(c), where w1..w4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are weights set from the customer's preferences.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1089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3.​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Pseudocode </a:t>
            </a:r>
          </a:p>
          <a:p>
            <a:pPr marL="46990" marR="0" indent="0" hangingPunct="false" algn="l">
              <a:lnSpc>
                <a:spcPct val="100738"/>
              </a:lnSpc>
              <a:spcBef>
                <a:spcPts val="919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function OLA-UTILITY-AGENT(percept) returns action </a:t>
            </a:r>
          </a:p>
          <a:p>
            <a:pPr marL="180340" marR="0" indent="0" hangingPunct="false" algn="l">
              <a:lnSpc>
                <a:spcPts val="960"/>
              </a:lnSpc>
              <a:spcBef>
                <a:spcPts val="120"/>
              </a:spcBef>
              <a:spcAft>
                <a:spcPct val="0"/>
              </a:spcAft>
            </a:pPr>
            <a:r>
              <a:rPr lang="en-US" sz="850" baseline="0">
                <a:solidFill>
                  <a:srgbClr val="000000"/>
                </a:solidFill>
                <a:latin typeface="Times New Roman"/>
              </a:rPr>
              <a:t>persistent: state, preferences, availableCabs 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976630" y="5295900"/>
            <a:ext cx="2379980" cy="12446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98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850" baseline="0" spc="21">
                <a:solidFill>
                  <a:srgbClr val="000000"/>
                </a:solidFill>
                <a:latin typeface="Times New Roman"/>
              </a:rPr>
              <a:t>state &lt;- UPDATE-STATE(state, percept)</a:t>
            </a:r>
            <a:r>
              <a:rPr lang="en-US" sz="850" baseline="0">
                <a:solidFill>
                  <a:srgbClr val="000000"/>
                </a:solidFill>
                <a:latin typeface="Times New Roman"/>
              </a:rPr>
              <a:t>​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3595370" y="5298440"/>
            <a:ext cx="2139950" cy="12192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9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850" baseline="0">
                <a:solidFill>
                  <a:srgbClr val="000000"/>
                </a:solidFill>
                <a:latin typeface="Times New Roman"/>
              </a:rPr>
              <a:t>// pickup, drop, traffic, drivers 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976630" y="5436870"/>
            <a:ext cx="4235450" cy="40259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9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850" baseline="0">
                <a:solidFill>
                  <a:srgbClr val="000000"/>
                </a:solidFill>
                <a:latin typeface="Times New Roman"/>
              </a:rPr>
              <a:t>source, destination &lt;- state.pickup, state.drop </a:t>
            </a:r>
            <a:endParaRPr lang="en-US" sz="1100"/>
          </a:p>
          <a:p>
            <a:pPr marL="0" marR="0" indent="0" hangingPunct="false" algn="l">
              <a:lnSpc>
                <a:spcPts val="960"/>
              </a:lnSpc>
              <a:spcBef>
                <a:spcPts val="1239"/>
              </a:spcBef>
              <a:spcAft>
                <a:spcPct val="0"/>
              </a:spcAft>
            </a:pPr>
            <a:r>
              <a:rPr lang="en-US" sz="850" baseline="0">
                <a:solidFill>
                  <a:srgbClr val="000000"/>
                </a:solidFill>
                <a:latin typeface="Times New Roman"/>
              </a:rPr>
              <a:t>if source or destination is invalid then </a:t>
            </a:r>
          </a:p>
          <a:p>
            <a:pPr marL="266700" marR="0" indent="0" hangingPunct="false" algn="l">
              <a:lnSpc>
                <a:spcPct val="100738"/>
              </a:lnSpc>
              <a:spcBef>
                <a:spcPts val="120"/>
              </a:spcBef>
              <a:spcAft>
                <a:spcPct val="0"/>
              </a:spcAft>
            </a:pPr>
            <a:r>
              <a:rPr lang="en-US" sz="850" baseline="0" spc="8">
                <a:solidFill>
                  <a:srgbClr val="000000"/>
                </a:solidFill>
                <a:latin typeface="Times New Roman"/>
              </a:rPr>
              <a:t>return REQUEST-VALID-LOCATION() </a:t>
            </a:r>
          </a:p>
          <a:p>
            <a:pPr marL="0" marR="0" indent="0" hangingPunct="false" algn="l">
              <a:lnSpc>
                <a:spcPts val="960"/>
              </a:lnSpc>
              <a:spcBef>
                <a:spcPts val="1239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availableCabs &lt;- GET-NEARBY-CABS(source) </a:t>
            </a:r>
          </a:p>
          <a:p>
            <a:pPr marL="0" marR="0" indent="0" hangingPunct="false" algn="l">
              <a:lnSpc>
                <a:spcPct val="100738"/>
              </a:lnSpc>
              <a:spcBef>
                <a:spcPts val="120"/>
              </a:spcBef>
              <a:spcAft>
                <a:spcPct val="0"/>
              </a:spcAft>
            </a:pPr>
            <a:r>
              <a:rPr lang="en-US" sz="850" baseline="0">
                <a:solidFill>
                  <a:srgbClr val="000000"/>
                </a:solidFill>
                <a:latin typeface="Times New Roman"/>
              </a:rPr>
              <a:t>if availableCabs is empty then </a:t>
            </a:r>
          </a:p>
          <a:p>
            <a:pPr marL="302260" marR="0" indent="0" hangingPunct="false" algn="l">
              <a:lnSpc>
                <a:spcPts val="960"/>
              </a:lnSpc>
              <a:spcBef>
                <a:spcPts val="139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return NOTIFY("No cabs available, try later") </a:t>
            </a:r>
          </a:p>
          <a:p>
            <a:pPr marL="50800" marR="0" indent="0" hangingPunct="false" algn="l">
              <a:lnSpc>
                <a:spcPct val="100738"/>
              </a:lnSpc>
              <a:spcBef>
                <a:spcPts val="1230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distance, time &lt;- ESTIMATE-ROUTE(source, destination) </a:t>
            </a:r>
          </a:p>
          <a:p>
            <a:pPr marL="0" marR="0" indent="0" hangingPunct="false" algn="l">
              <a:lnSpc>
                <a:spcPts val="960"/>
              </a:lnSpc>
              <a:spcBef>
                <a:spcPts val="1239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bestCab &lt;- NULL </a:t>
            </a:r>
          </a:p>
          <a:p>
            <a:pPr marL="0" marR="0" indent="0" hangingPunct="false" algn="l">
              <a:lnSpc>
                <a:spcPts val="960"/>
              </a:lnSpc>
              <a:spcBef>
                <a:spcPts val="129"/>
              </a:spcBef>
              <a:spcAft>
                <a:spcPct val="0"/>
              </a:spcAft>
            </a:pPr>
            <a:r>
              <a:rPr lang="en-US" sz="850" baseline="0">
                <a:solidFill>
                  <a:srgbClr val="000000"/>
                </a:solidFill>
                <a:latin typeface="Times New Roman"/>
              </a:rPr>
              <a:t>bestUtility &lt;- -infinity </a:t>
            </a:r>
          </a:p>
          <a:p>
            <a:pPr marL="0" marR="0" indent="0" hangingPunct="false" algn="l">
              <a:lnSpc>
                <a:spcPct val="100738"/>
              </a:lnSpc>
              <a:spcBef>
                <a:spcPts val="139"/>
              </a:spcBef>
              <a:spcAft>
                <a:spcPct val="0"/>
              </a:spcAft>
            </a:pPr>
            <a:r>
              <a:rPr lang="en-US" sz="850" baseline="0">
                <a:solidFill>
                  <a:srgbClr val="000000"/>
                </a:solidFill>
                <a:latin typeface="Times New Roman"/>
              </a:rPr>
              <a:t>for each cabType in {mini, micro, sedan, shared, prime}: if </a:t>
            </a:r>
          </a:p>
          <a:p>
            <a:pPr marL="266700" marR="0" indent="0" hangingPunct="false" algn="l">
              <a:lnSpc>
                <a:spcPts val="960"/>
              </a:lnSpc>
              <a:spcBef>
                <a:spcPts val="129"/>
              </a:spcBef>
              <a:spcAft>
                <a:spcPct val="0"/>
              </a:spcAft>
            </a:pPr>
            <a:r>
              <a:rPr lang="en-US" sz="850" baseline="0">
                <a:solidFill>
                  <a:srgbClr val="000000"/>
                </a:solidFill>
                <a:latin typeface="Times New Roman"/>
              </a:rPr>
              <a:t>cabType is available: </a:t>
            </a:r>
          </a:p>
          <a:p>
            <a:pPr marL="524510" marR="0" indent="0" hangingPunct="false" algn="l">
              <a:lnSpc>
                <a:spcPts val="960"/>
              </a:lnSpc>
              <a:spcBef>
                <a:spcPts val="139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fare &lt;- CALCULATE-FARE(cabType, distance, time, surge) eta </a:t>
            </a:r>
          </a:p>
          <a:p>
            <a:pPr marL="524510" marR="0" indent="0" hangingPunct="false" algn="l">
              <a:lnSpc>
                <a:spcPts val="960"/>
              </a:lnSpc>
              <a:spcBef>
                <a:spcPts val="129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&lt;- ESTIMATE-ARRIVAL(cabType, source) </a:t>
            </a:r>
          </a:p>
          <a:p>
            <a:pPr marL="524510" marR="0" indent="0" hangingPunct="false" algn="l">
              <a:lnSpc>
                <a:spcPct val="100738"/>
              </a:lnSpc>
              <a:spcBef>
                <a:spcPts val="139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comfort &lt;- COMFORT-SCORE(cabType) </a:t>
            </a:r>
          </a:p>
          <a:p>
            <a:pPr marL="524510" marR="0" indent="0" hangingPunct="false" algn="l">
              <a:lnSpc>
                <a:spcPts val="960"/>
              </a:lnSpc>
              <a:spcBef>
                <a:spcPts val="139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U &lt;- w1*comfort - w2*fare - w3*eta + w4*RATING(cabType) if </a:t>
            </a:r>
          </a:p>
          <a:p>
            <a:pPr marL="524510" marR="0" indent="0" hangingPunct="false" algn="l">
              <a:lnSpc>
                <a:spcPts val="960"/>
              </a:lnSpc>
              <a:spcBef>
                <a:spcPts val="110"/>
              </a:spcBef>
              <a:spcAft>
                <a:spcPct val="0"/>
              </a:spcAft>
            </a:pPr>
            <a:r>
              <a:rPr lang="en-US" sz="850" baseline="0">
                <a:solidFill>
                  <a:srgbClr val="000000"/>
                </a:solidFill>
                <a:latin typeface="Times New Roman"/>
              </a:rPr>
              <a:t>U &gt; bestUtility then </a:t>
            </a:r>
          </a:p>
          <a:p>
            <a:pPr marL="789940" marR="0" indent="0" hangingPunct="false" algn="l">
              <a:lnSpc>
                <a:spcPts val="960"/>
              </a:lnSpc>
              <a:spcBef>
                <a:spcPts val="160"/>
              </a:spcBef>
              <a:spcAft>
                <a:spcPct val="0"/>
              </a:spcAft>
            </a:pPr>
            <a:r>
              <a:rPr lang="en-US" sz="850" baseline="0">
                <a:solidFill>
                  <a:srgbClr val="000000"/>
                </a:solidFill>
                <a:latin typeface="Times New Roman"/>
              </a:rPr>
              <a:t>bestUtility &lt;- U </a:t>
            </a:r>
          </a:p>
          <a:p>
            <a:pPr marL="789940" marR="0" indent="0" hangingPunct="false" algn="l">
              <a:lnSpc>
                <a:spcPts val="960"/>
              </a:lnSpc>
              <a:spcBef>
                <a:spcPts val="110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bestCab &lt;- cabType </a:t>
            </a:r>
          </a:p>
          <a:p>
            <a:pPr marL="0" marR="0" indent="0" hangingPunct="false" algn="l">
              <a:lnSpc>
                <a:spcPts val="960"/>
              </a:lnSpc>
              <a:spcBef>
                <a:spcPts val="1250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DISPLAY(all cab options with fare and ETA, highlight bestCab) </a:t>
            </a:r>
          </a:p>
          <a:p>
            <a:pPr marL="0" marR="0" indent="0" hangingPunct="false" algn="l">
              <a:lnSpc>
                <a:spcPts val="960"/>
              </a:lnSpc>
              <a:spcBef>
                <a:spcPts val="129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choice &lt;- GET-CUSTOMER-CHOICE(default = bestCab) </a:t>
            </a:r>
          </a:p>
          <a:p>
            <a:pPr marL="0" marR="0" indent="0" hangingPunct="false" algn="l">
              <a:lnSpc>
                <a:spcPct val="100738"/>
              </a:lnSpc>
              <a:spcBef>
                <a:spcPts val="139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driver &lt;- ASSIGN-DRIVER(choice, source) </a:t>
            </a:r>
          </a:p>
          <a:p>
            <a:pPr marL="0" marR="0" indent="0" hangingPunct="false" algn="l">
              <a:lnSpc>
                <a:spcPts val="960"/>
              </a:lnSpc>
              <a:spcBef>
                <a:spcPts val="1230"/>
              </a:spcBef>
              <a:spcAft>
                <a:spcPct val="0"/>
              </a:spcAft>
            </a:pPr>
            <a:r>
              <a:rPr lang="en-US" sz="850" baseline="0">
                <a:solidFill>
                  <a:srgbClr val="000000"/>
                </a:solidFill>
                <a:latin typeface="Times New Roman"/>
              </a:rPr>
              <a:t>if driver accepts then </a:t>
            </a:r>
          </a:p>
          <a:p>
            <a:pPr marL="314960" marR="0" indent="0" hangingPunct="false" algn="l">
              <a:lnSpc>
                <a:spcPct val="100738"/>
              </a:lnSpc>
              <a:spcBef>
                <a:spcPts val="139"/>
              </a:spcBef>
              <a:spcAft>
                <a:spcPct val="0"/>
              </a:spcAft>
            </a:pPr>
            <a:r>
              <a:rPr lang="en-US" sz="850" baseline="0" spc="21">
                <a:solidFill>
                  <a:srgbClr val="000000"/>
                </a:solidFill>
                <a:latin typeface="Times New Roman"/>
              </a:rPr>
              <a:t>return CONFIRM-BOOKING(choice, driver, fare)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96290" y="732790"/>
            <a:ext cx="5899150" cy="11366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180340" marR="0" indent="0" hangingPunct="false">
              <a:lnSpc>
                <a:spcPts val="9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850" baseline="0">
                <a:solidFill>
                  <a:srgbClr val="000000"/>
                </a:solidFill>
                <a:latin typeface="Times New Roman"/>
              </a:rPr>
              <a:t>else </a:t>
            </a:r>
            <a:endParaRPr lang="en-US" sz="1100"/>
          </a:p>
          <a:p>
            <a:pPr marL="447040" marR="0" indent="0" hangingPunct="false" algn="l">
              <a:lnSpc>
                <a:spcPts val="960"/>
              </a:lnSpc>
              <a:spcBef>
                <a:spcPts val="129"/>
              </a:spcBef>
              <a:spcAft>
                <a:spcPct val="0"/>
              </a:spcAft>
            </a:pPr>
            <a:r>
              <a:rPr lang="en-US" sz="850" baseline="0">
                <a:solidFill>
                  <a:srgbClr val="000000"/>
                </a:solidFill>
                <a:latin typeface="Times New Roman"/>
              </a:rPr>
              <a:t>remove choice from availableCabs; repeat from selection step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900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4.​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Interpretation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85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The agent senses the trip request, generates the available cab types, scores each by utility, shows the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ranked options and lets the customer confirm. If the driver declines, the agent re-plans with the next-best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option, which shows its ability to handle a dynamic, uncertain environment.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31850" y="1530350"/>
          <a:ext cx="5905500" cy="444500"/>
        </p:xfrm>
        <a:graphic>
          <a:graphicData uri="http://schemas.openxmlformats.org/drawingml/2006/table">
            <a:tbl>
              <a:tblPr/>
              <a:tblGrid>
                <a:gridCol w="723900"/>
                <a:gridCol w="647700"/>
                <a:gridCol w="647700"/>
                <a:gridCol w="647700"/>
                <a:gridCol w="647700"/>
                <a:gridCol w="647700"/>
                <a:gridCol w="647700"/>
                <a:gridCol w="647700"/>
                <a:gridCol w="6477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Edge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5">
                          <a:solidFill>
                            <a:srgbClr val="FFFFFF"/>
                          </a:solidFill>
                          <a:latin typeface="Arial"/>
                        </a:rPr>
                        <a:t>S-A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-1">
                          <a:solidFill>
                            <a:srgbClr val="FFFFFF"/>
                          </a:solidFill>
                          <a:latin typeface="Arial"/>
                        </a:rPr>
                        <a:t>S-G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A-B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7">
                          <a:solidFill>
                            <a:srgbClr val="FFFFFF"/>
                          </a:solidFill>
                          <a:latin typeface="Arial"/>
                        </a:rPr>
                        <a:t>A-C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7">
                          <a:solidFill>
                            <a:srgbClr val="FFFFFF"/>
                          </a:solidFill>
                          <a:latin typeface="Arial"/>
                        </a:rPr>
                        <a:t>B-D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1">
                          <a:solidFill>
                            <a:srgbClr val="FFFFFF"/>
                          </a:solidFill>
                          <a:latin typeface="Arial"/>
                        </a:rPr>
                        <a:t>C-D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0">
                          <a:solidFill>
                            <a:srgbClr val="FFFFFF"/>
                          </a:solidFill>
                          <a:latin typeface="Arial"/>
                        </a:rPr>
                        <a:t>C-G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0">
                          <a:solidFill>
                            <a:srgbClr val="FFFFFF"/>
                          </a:solidFill>
                          <a:latin typeface="Arial"/>
                        </a:rPr>
                        <a:t>D-G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1">
                          <a:solidFill>
                            <a:srgbClr val="000000"/>
                          </a:solidFill>
                          <a:latin typeface="Arial"/>
                        </a:rPr>
                        <a:t>Cost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1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2">
                          <a:solidFill>
                            <a:srgbClr val="000000"/>
                          </a:solidFill>
                          <a:latin typeface="Arial"/>
                        </a:rPr>
                        <a:t>12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3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1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3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1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2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3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19150" y="3295650"/>
          <a:ext cx="5930900" cy="1816100"/>
        </p:xfrm>
        <a:graphic>
          <a:graphicData uri="http://schemas.openxmlformats.org/drawingml/2006/table">
            <a:tbl>
              <a:tblPr/>
              <a:tblGrid>
                <a:gridCol w="457200"/>
                <a:gridCol w="1155700"/>
                <a:gridCol w="2590800"/>
                <a:gridCol w="1727200"/>
              </a:tblGrid>
              <a:tr h="355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11">
                          <a:solidFill>
                            <a:srgbClr val="FFFFFF"/>
                          </a:solidFill>
                          <a:latin typeface="Arial"/>
                        </a:rPr>
                        <a:t>Node expanded (g)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Nodes generated / updated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Frontier (priority queue, </a:t>
                      </a:r>
                      <a:endParaRPr lang="en-US" sz="1100"/>
                    </a:p>
                    <a:p>
                      <a:pPr marL="81280" marR="0" indent="0" hangingPunct="false" algn="l">
                        <a:lnSpc>
                          <a:spcPts val="950"/>
                        </a:lnSpc>
                        <a:spcBef>
                          <a:spcPts val="150"/>
                        </a:spcBef>
                        <a:spcAft>
                          <a:spcPct val="0"/>
                        </a:spcAft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ordered by g)</a:t>
                      </a:r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1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S (0)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A = 1, G = 12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">
                          <a:solidFill>
                            <a:srgbClr val="000000"/>
                          </a:solidFill>
                          <a:latin typeface="Arial"/>
                        </a:rPr>
                        <a:t>A(1), G(12) </a:t>
                      </a:r>
                      <a:endParaRPr lang="en-US" sz="1100"/>
                    </a:p>
                  </a:txBody>
                  <a:tcPr anchor="t" marT="4953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2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4">
                          <a:solidFill>
                            <a:srgbClr val="000000"/>
                          </a:solidFill>
                          <a:latin typeface="Arial"/>
                        </a:rPr>
                        <a:t>A (1)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B = 1+3 = 4, C = 1+1 = 2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C(2), B(4), G(12)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3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C (2)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3">
                          <a:solidFill>
                            <a:srgbClr val="000000"/>
                          </a:solidFill>
                          <a:latin typeface="Arial"/>
                        </a:rPr>
                        <a:t>D = 2+1 = 3, G = 2+2 = 4 (better than 12, so </a:t>
                      </a:r>
                      <a:endParaRPr lang="en-US" sz="1100"/>
                    </a:p>
                    <a:p>
                      <a:pPr marL="81280" marR="0" indent="0" hangingPunct="false" algn="l">
                        <a:lnSpc>
                          <a:spcPts val="950"/>
                        </a:lnSpc>
                        <a:spcBef>
                          <a:spcPts val="160"/>
                        </a:spcBef>
                        <a:spcAft>
                          <a:spcPct val="0"/>
                        </a:spcAft>
                      </a:pPr>
                      <a:r>
                        <a:rPr lang="en-US" sz="750" baseline="0" spc="-11">
                          <a:solidFill>
                            <a:srgbClr val="000000"/>
                          </a:solidFill>
                          <a:latin typeface="Arial"/>
                        </a:rPr>
                        <a:t>updated) </a:t>
                      </a:r>
                    </a:p>
                  </a:txBody>
                  <a:tcPr anchor="t" marT="4191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D(3), B(4), G(4)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4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D (3)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7">
                          <a:solidFill>
                            <a:srgbClr val="000000"/>
                          </a:solidFill>
                          <a:latin typeface="Arial"/>
                        </a:rPr>
                        <a:t>G via D = 3+3 = 6 (worse than 4, ignored)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2">
                          <a:solidFill>
                            <a:srgbClr val="000000"/>
                          </a:solidFill>
                          <a:latin typeface="Arial"/>
                        </a:rPr>
                        <a:t>B(4), G(4)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5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4">
                          <a:solidFill>
                            <a:srgbClr val="000000"/>
                          </a:solidFill>
                          <a:latin typeface="Arial"/>
                        </a:rPr>
                        <a:t>B (4)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7">
                          <a:solidFill>
                            <a:srgbClr val="000000"/>
                          </a:solidFill>
                          <a:latin typeface="Arial"/>
                        </a:rPr>
                        <a:t>D via B = 4+3 = 7 (worse than 3, ignored)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1">
                          <a:solidFill>
                            <a:srgbClr val="000000"/>
                          </a:solidFill>
                          <a:latin typeface="Arial"/>
                        </a:rPr>
                        <a:t>G(4) </a:t>
                      </a:r>
                      <a:endParaRPr lang="en-US" sz="1100"/>
                    </a:p>
                  </a:txBody>
                  <a:tcPr anchor="t" marT="5334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3">
                          <a:solidFill>
                            <a:srgbClr val="000000"/>
                          </a:solidFill>
                          <a:latin typeface="Arial"/>
                        </a:rPr>
                        <a:t>6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509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G (4)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2">
                          <a:solidFill>
                            <a:srgbClr val="000000"/>
                          </a:solidFill>
                          <a:latin typeface="Arial"/>
                        </a:rPr>
                        <a:t>Goal test passed - stop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1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  <a:endParaRPr lang="en-US" sz="1100"/>
                    </a:p>
                  </a:txBody>
                  <a:tcPr anchor="t" marT="4318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19150" y="6127750"/>
          <a:ext cx="5930900" cy="1092200"/>
        </p:xfrm>
        <a:graphic>
          <a:graphicData uri="http://schemas.openxmlformats.org/drawingml/2006/table">
            <a:tbl>
              <a:tblPr/>
              <a:tblGrid>
                <a:gridCol w="2870200"/>
                <a:gridCol w="3060700"/>
              </a:tblGrid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Path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="true" baseline="0" spc="21">
                          <a:solidFill>
                            <a:srgbClr val="FFFFFF"/>
                          </a:solidFill>
                          <a:latin typeface="Arial"/>
                        </a:rPr>
                        <a:t>Cost</a:t>
                      </a:r>
                      <a:endParaRPr lang="en-US" sz="1100"/>
                    </a:p>
                  </a:txBody>
                  <a:tcPr anchor="t" marT="5080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5D"/>
                    </a:solidFill>
                  </a:tcPr>
                </a:tc>
              </a:tr>
              <a:tr h="2286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S -&gt; A -&gt; C -&gt; G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1">
                          <a:solidFill>
                            <a:srgbClr val="000000"/>
                          </a:solidFill>
                          <a:latin typeface="Arial"/>
                        </a:rPr>
                        <a:t>1 + 1 + 2 = </a:t>
                      </a:r>
                      <a:r>
                        <a:rPr lang="en-US" sz="750" b="true" baseline="0" spc="21">
                          <a:solidFill>
                            <a:srgbClr val="000000"/>
                          </a:solidFill>
                          <a:latin typeface="Arial"/>
                        </a:rPr>
                        <a:t>4 (optimal) </a:t>
                      </a:r>
                      <a:endParaRPr lang="en-US" sz="1100"/>
                    </a:p>
                  </a:txBody>
                  <a:tcPr anchor="t" marT="5207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0">
                          <a:solidFill>
                            <a:srgbClr val="000000"/>
                          </a:solidFill>
                          <a:latin typeface="Arial"/>
                        </a:rPr>
                        <a:t>S -&gt; A -&gt; C -&gt; D -&gt; G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1">
                          <a:solidFill>
                            <a:srgbClr val="000000"/>
                          </a:solidFill>
                          <a:latin typeface="Arial"/>
                        </a:rPr>
                        <a:t>1 + 1 + 1 + 3 = 6 </a:t>
                      </a:r>
                      <a:endParaRPr lang="en-US" sz="1100"/>
                    </a:p>
                  </a:txBody>
                  <a:tcPr anchor="t" marT="4445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1">
                          <a:solidFill>
                            <a:srgbClr val="000000"/>
                          </a:solidFill>
                          <a:latin typeface="Arial"/>
                        </a:rPr>
                        <a:t>S -&gt; A -&gt; B -&gt; D -&gt; G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1">
                          <a:solidFill>
                            <a:srgbClr val="000000"/>
                          </a:solidFill>
                          <a:latin typeface="Arial"/>
                        </a:rPr>
                        <a:t>1 + 3 + 3 + 3 = 10 </a:t>
                      </a:r>
                      <a:endParaRPr lang="en-US" sz="1100"/>
                    </a:p>
                  </a:txBody>
                  <a:tcPr anchor="t" marT="4699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 anchor="t" rtlCol="false" anchorCtr="false" wrap="none"/>
                    <a:lstStyle/>
                    <a:p>
                      <a:pPr algn="l" marL="7493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-6">
                          <a:solidFill>
                            <a:srgbClr val="000000"/>
                          </a:solidFill>
                          <a:latin typeface="Arial"/>
                        </a:rPr>
                        <a:t>S -&gt; G (direct)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 anchorCtr="false" wrap="none"/>
                    <a:lstStyle/>
                    <a:p>
                      <a:pPr algn="l" marL="81280" marR="0" indent="0" hangingPunct="false">
                        <a:lnSpc>
                          <a:spcPts val="95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defRPr/>
                      </a:pPr>
                      <a:r>
                        <a:rPr lang="en-US" sz="750" baseline="0" spc="2">
                          <a:solidFill>
                            <a:srgbClr val="000000"/>
                          </a:solidFill>
                          <a:latin typeface="Arial"/>
                        </a:rPr>
                        <a:t>12 </a:t>
                      </a:r>
                      <a:endParaRPr lang="en-US" sz="1100"/>
                    </a:p>
                  </a:txBody>
                  <a:tcPr anchor="t" marT="48260" marB="0" marL="0" marR="0">
                    <a:lnL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" id="2"/>
          <p:cNvSpPr txBox="true"/>
          <p:nvPr/>
        </p:nvSpPr>
        <p:spPr>
          <a:xfrm>
            <a:off x="796290" y="728980"/>
            <a:ext cx="5459730" cy="71755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56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400" b="true" baseline="0" spc="34">
                <a:solidFill>
                  <a:srgbClr val="000000"/>
                </a:solidFill>
                <a:latin typeface="Arial"/>
              </a:rPr>
              <a:t>Question 5: Uniform Cost Search (UCS) on the Delivery Network </a:t>
            </a:r>
            <a:endParaRPr lang="en-US" sz="1100"/>
          </a:p>
          <a:p>
            <a:pPr marL="0" marR="0" indent="0" hangingPunct="false" algn="l">
              <a:lnSpc>
                <a:spcPts val="1230"/>
              </a:lnSpc>
              <a:spcBef>
                <a:spcPts val="889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1.​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Problem understanding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860"/>
              </a:spcBef>
              <a:spcAft>
                <a:spcPct val="0"/>
              </a:spcAft>
            </a:pP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Edges read from the graph (directed, with cost = fuel + time): 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96290" y="2141220"/>
            <a:ext cx="5679440" cy="105537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23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100" b="true" baseline="0" spc="27">
                <a:solidFill>
                  <a:srgbClr val="2A5B88"/>
                </a:solidFill>
                <a:latin typeface="Arial"/>
              </a:rPr>
              <a:t>2.​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Method selection </a:t>
            </a:r>
            <a:endParaRPr lang="en-US" sz="1100"/>
          </a:p>
          <a:p>
            <a:pPr marL="0" marR="0" indent="0" hangingPunct="false" algn="l">
              <a:lnSpc>
                <a:spcPts val="1120"/>
              </a:lnSpc>
              <a:spcBef>
                <a:spcPts val="85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UCS always expands the frontier node with the lowest path cost g(n) using a priority queue. Since all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costs are positive, UCS is 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complete and optimal</a:t>
            </a: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, which is exactly what a least-cost routing problem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requires. The goal test is applied when a node is </a:t>
            </a:r>
            <a:r>
              <a:rPr lang="en-US" sz="1000" b="true" baseline="0" spc="25">
                <a:solidFill>
                  <a:srgbClr val="000000"/>
                </a:solidFill>
                <a:latin typeface="Arial"/>
              </a:rPr>
              <a:t>removed </a:t>
            </a:r>
            <a:r>
              <a:rPr lang="en-US" sz="1000" baseline="0" spc="-12">
                <a:solidFill>
                  <a:srgbClr val="000000"/>
                </a:solidFill>
                <a:latin typeface="Arial"/>
              </a:rPr>
              <a:t>from the queue (not when generated).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1089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3.​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Solution process 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96290" y="5181600"/>
            <a:ext cx="5840730" cy="86360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="true" baseline="0" spc="25">
                <a:solidFill>
                  <a:srgbClr val="000000"/>
                </a:solidFill>
                <a:latin typeface="Arial"/>
              </a:rPr>
              <a:t>Order of expansion: </a:t>
            </a:r>
            <a:r>
              <a:rPr lang="en-US" sz="1000" baseline="0" spc="-12">
                <a:solidFill>
                  <a:srgbClr val="000000"/>
                </a:solidFill>
                <a:latin typeface="Arial"/>
              </a:rPr>
              <a:t>S, A, C, D, B, G. (B and G tie at cost 4; B is removed first because it was inserted </a:t>
            </a:r>
            <a:endParaRPr lang="en-US" sz="1100"/>
          </a:p>
          <a:p>
            <a:pPr marL="0" marR="0" indent="0" hangingPunct="false" algn="l">
              <a:lnSpc>
                <a:spcPts val="1120"/>
              </a:lnSpc>
              <a:spcBef>
                <a:spcPts val="270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earlier. Choosing G first gives the same answer.) </a:t>
            </a:r>
          </a:p>
          <a:p>
            <a:pPr marL="0" marR="0" indent="0" hangingPunct="false" algn="l">
              <a:lnSpc>
                <a:spcPts val="1230"/>
              </a:lnSpc>
              <a:spcBef>
                <a:spcPts val="1089"/>
              </a:spcBef>
              <a:spcAft>
                <a:spcPct val="0"/>
              </a:spcAft>
            </a:pPr>
            <a:r>
              <a:rPr lang="en-US" sz="1100" b="true" baseline="0" spc="27">
                <a:solidFill>
                  <a:srgbClr val="2A5B88"/>
                </a:solidFill>
                <a:latin typeface="Arial"/>
              </a:rPr>
              <a:t>4.​</a:t>
            </a:r>
            <a:r>
              <a:rPr lang="en-US" sz="1100" b="true" baseline="0" spc="27">
                <a:solidFill>
                  <a:srgbClr val="000000"/>
                </a:solidFill>
                <a:latin typeface="Arial"/>
              </a:rPr>
              <a:t>Accuracy and interpretation </a:t>
            </a:r>
          </a:p>
          <a:p>
            <a:pPr marL="0" marR="0" indent="0" hangingPunct="false" algn="l">
              <a:lnSpc>
                <a:spcPts val="1110"/>
              </a:lnSpc>
              <a:spcBef>
                <a:spcPts val="860"/>
              </a:spcBef>
              <a:spcAft>
                <a:spcPct val="0"/>
              </a:spcAft>
            </a:pPr>
            <a:r>
              <a:rPr lang="en-US" sz="1000" b="true" baseline="0" spc="12">
                <a:solidFill>
                  <a:srgbClr val="000000"/>
                </a:solidFill>
                <a:latin typeface="Arial"/>
              </a:rPr>
              <a:t>Optimal path: S -&gt; A -&gt; C -&gt; G with minimum total cost = 1 + 1 + 2 = 4. 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796290" y="7296150"/>
            <a:ext cx="5933440" cy="853440"/>
          </a:xfrm>
          <a:prstGeom prst="rect">
            <a:avLst/>
          </a:prstGeom>
        </p:spPr>
        <p:txBody>
          <a:bodyPr anchor="ctr" rtlCol="false" anchorCtr="false" wrap="none" tIns="0" bIns="0" lIns="0" rIns="0"/>
          <a:lstStyle/>
          <a:p>
            <a:pPr algn="l" marL="0" marR="0" indent="0" hangingPunct="false">
              <a:lnSpc>
                <a:spcPts val="112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1000" baseline="0" spc="-13">
                <a:solidFill>
                  <a:srgbClr val="000000"/>
                </a:solidFill>
                <a:latin typeface="Arial"/>
              </a:rPr>
              <a:t>The direct route S -&gt; G looks shortest in number of edges (1 edge) but is the most expensive. UCS </a:t>
            </a:r>
            <a:endParaRPr lang="en-US" sz="1100"/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correctly prefers the cheaper multi-hop route through A and C, saving 8 cost units (about 67%) compared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14">
                <a:solidFill>
                  <a:srgbClr val="000000"/>
                </a:solidFill>
                <a:latin typeface="Arial"/>
              </a:rPr>
              <a:t>with the direct route. The company should send packages along S -&gt; A -&gt; C -&gt; G. Time complexity is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12">
                <a:solidFill>
                  <a:srgbClr val="000000"/>
                </a:solidFill>
                <a:latin typeface="Arial"/>
              </a:rPr>
              <a:t>O(b^(1 + floor(C*/e))) and space complexity is the same, where C* is the optimal cost and e is the </a:t>
            </a:r>
          </a:p>
          <a:p>
            <a:pPr marL="0" marR="0" indent="0" hangingPunct="false" algn="l">
              <a:lnSpc>
                <a:spcPts val="1120"/>
              </a:lnSpc>
              <a:spcBef>
                <a:spcPts val="279"/>
              </a:spcBef>
              <a:spcAft>
                <a:spcPct val="0"/>
              </a:spcAft>
            </a:pPr>
            <a:r>
              <a:rPr lang="en-US" sz="1000" baseline="0" spc="-25">
                <a:solidFill>
                  <a:srgbClr val="000000"/>
                </a:solidFill>
                <a:latin typeface="Arial"/>
              </a:rPr>
              <a:t>minimum edge cost.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