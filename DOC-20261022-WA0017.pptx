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1291820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28657" cy="129028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73650" y="1472859"/>
            <a:ext cx="1411490" cy="27616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878B9B"/>
                </a:solidFill>
                <a:latin typeface="Source Han Sans SC"/>
              </a:defRPr>
            </a:pPr>
            <a:r>
              <a:t>CO-1 AT-3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4510" y="1718335"/>
            <a:ext cx="7425664" cy="99878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8A91A4"/>
                </a:solidFill>
                <a:latin typeface="Source Han Sans SC"/>
              </a:defRPr>
            </a:pPr>
            <a:r>
              <a:t>• A Smart hom automation System is being designed to manag</a:t>
            </a:r>
          </a:p>
          <a:p>
            <a:pPr>
              <a:lnSpc>
                <a:spcPct val="132555"/>
              </a:lnSpc>
              <a:defRPr sz="1900">
                <a:solidFill>
                  <a:srgbClr val="7A8295"/>
                </a:solidFill>
                <a:latin typeface="Source Han Sans SC"/>
              </a:defRPr>
            </a:pPr>
            <a:r>
              <a:t>lighting, temperture, and Security based on user</a:t>
            </a:r>
          </a:p>
          <a:p>
            <a:pPr>
              <a:lnSpc>
                <a:spcPct val="132555"/>
              </a:lnSpc>
              <a:defRPr sz="1900">
                <a:solidFill>
                  <a:srgbClr val="767D90"/>
                </a:solidFill>
                <a:latin typeface="Source Han Sans SC"/>
              </a:defRPr>
            </a:pPr>
            <a:r>
              <a:t>behavior and environmental conditions. The System must</a:t>
            </a:r>
          </a:p>
          <a:p>
            <a:pPr>
              <a:lnSpc>
                <a:spcPct val="132555"/>
              </a:lnSpc>
              <a:defRPr sz="1900">
                <a:solidFill>
                  <a:srgbClr val="82879A"/>
                </a:solidFill>
                <a:latin typeface="Source Han Sans SC"/>
              </a:defRPr>
            </a:pPr>
            <a:r>
              <a:t>respond to real-time inputs such as motion detection</a:t>
            </a:r>
          </a:p>
          <a:p>
            <a:pPr>
              <a:lnSpc>
                <a:spcPct val="132555"/>
              </a:lnSpc>
              <a:defRPr sz="1900">
                <a:solidFill>
                  <a:srgbClr val="7E8395"/>
                </a:solidFill>
                <a:latin typeface="Source Han Sans SC"/>
              </a:defRPr>
            </a:pPr>
            <a:r>
              <a:t>temperisture changes, and time of day while also.</a:t>
            </a:r>
          </a:p>
          <a:p>
            <a:pPr>
              <a:lnSpc>
                <a:spcPct val="132555"/>
              </a:lnSpc>
              <a:defRPr sz="1900">
                <a:solidFill>
                  <a:srgbClr val="85899B"/>
                </a:solidFill>
                <a:latin typeface="Source Han Sans SC"/>
              </a:defRPr>
            </a:pPr>
            <a:r>
              <a:t>learning user Perference over time. In this content</a:t>
            </a:r>
          </a:p>
          <a:p>
            <a:pPr>
              <a:lnSpc>
                <a:spcPct val="132555"/>
              </a:lnSpc>
              <a:defRPr sz="1900">
                <a:solidFill>
                  <a:srgbClr val="7B8093"/>
                </a:solidFill>
                <a:latin typeface="Source Han Sans SC"/>
              </a:defRPr>
            </a:pPr>
            <a:r>
              <a:t>explain th different types of intelligent agents</a:t>
            </a:r>
          </a:p>
          <a:p>
            <a:pPr>
              <a:lnSpc>
                <a:spcPct val="132555"/>
              </a:lnSpc>
              <a:defRPr sz="1900">
                <a:solidFill>
                  <a:srgbClr val="7D8192"/>
                </a:solidFill>
                <a:latin typeface="Source Han Sans SC"/>
              </a:defRPr>
            </a:pPr>
            <a:r>
              <a:t>A) Intelligent Agents in Smart Home.</a:t>
            </a:r>
          </a:p>
          <a:p>
            <a:pPr>
              <a:lnSpc>
                <a:spcPct val="132555"/>
              </a:lnSpc>
              <a:defRPr sz="1900">
                <a:solidFill>
                  <a:srgbClr val="717588"/>
                </a:solidFill>
                <a:latin typeface="Source Han Sans SC"/>
              </a:defRPr>
            </a:pPr>
            <a:r>
              <a:t>+ Simple Refler Agent...</a:t>
            </a:r>
          </a:p>
          <a:p>
            <a:pPr>
              <a:lnSpc>
                <a:spcPct val="132555"/>
              </a:lnSpc>
              <a:defRPr sz="1900">
                <a:solidFill>
                  <a:srgbClr val="8A8E9D"/>
                </a:solidFill>
                <a:latin typeface="Source Han Sans SC"/>
              </a:defRPr>
            </a:pPr>
            <a:r>
              <a:t>Arts only on the current sitution Example: if</a:t>
            </a:r>
          </a:p>
          <a:p>
            <a:pPr>
              <a:lnSpc>
                <a:spcPct val="132555"/>
              </a:lnSpc>
              <a:defRPr sz="1900">
                <a:solidFill>
                  <a:srgbClr val="838698"/>
                </a:solidFill>
                <a:latin typeface="Source Han Sans SC"/>
              </a:defRPr>
            </a:pPr>
            <a:r>
              <a:t>motion is detected, turn on the light</a:t>
            </a:r>
          </a:p>
          <a:p>
            <a:pPr>
              <a:lnSpc>
                <a:spcPct val="132555"/>
              </a:lnSpc>
              <a:defRPr sz="1900">
                <a:solidFill>
                  <a:srgbClr val="7F8294"/>
                </a:solidFill>
                <a:latin typeface="Source Han Sans SC"/>
              </a:defRPr>
            </a:pPr>
            <a:r>
              <a:t>+ Model Based Agent..</a:t>
            </a:r>
          </a:p>
          <a:p>
            <a:pPr>
              <a:lnSpc>
                <a:spcPct val="132555"/>
              </a:lnSpc>
              <a:defRPr sz="1900">
                <a:solidFill>
                  <a:srgbClr val="858695"/>
                </a:solidFill>
                <a:latin typeface="Source Han Sans SC"/>
              </a:defRPr>
            </a:pPr>
            <a:r>
              <a:t>Maintains information about the environment.</a:t>
            </a:r>
          </a:p>
          <a:p>
            <a:pPr>
              <a:lnSpc>
                <a:spcPct val="132555"/>
              </a:lnSpc>
              <a:defRPr sz="1900">
                <a:solidFill>
                  <a:srgbClr val="808190"/>
                </a:solidFill>
                <a:latin typeface="Source Han Sans SC"/>
              </a:defRPr>
            </a:pPr>
            <a:r>
              <a:t>Example: remembers room temperature and Pryious</a:t>
            </a:r>
          </a:p>
          <a:p>
            <a:pPr>
              <a:lnSpc>
                <a:spcPct val="132555"/>
              </a:lnSpc>
              <a:defRPr sz="1900">
                <a:solidFill>
                  <a:srgbClr val="747587"/>
                </a:solidFill>
                <a:latin typeface="Source Han Sans SC"/>
              </a:defRPr>
            </a:pPr>
            <a:r>
              <a:t>conditions.</a:t>
            </a:r>
          </a:p>
          <a:p>
            <a:pPr>
              <a:lnSpc>
                <a:spcPct val="132555"/>
              </a:lnSpc>
              <a:defRPr sz="1900">
                <a:solidFill>
                  <a:srgbClr val="828191"/>
                </a:solidFill>
                <a:latin typeface="Source Han Sans SC"/>
              </a:defRPr>
            </a:pPr>
            <a:r>
              <a:t>Groal Based Agents/</a:t>
            </a:r>
          </a:p>
          <a:p>
            <a:pPr>
              <a:lnSpc>
                <a:spcPct val="132555"/>
              </a:lnSpc>
              <a:defRPr sz="1900">
                <a:solidFill>
                  <a:srgbClr val="7F7D8D"/>
                </a:solidFill>
                <a:latin typeface="Source Han Sans SC"/>
              </a:defRPr>
            </a:pPr>
            <a:r>
              <a:t>Takes action to achiow a specific goal. Examp</a:t>
            </a:r>
          </a:p>
          <a:p>
            <a:pPr>
              <a:lnSpc>
                <a:spcPct val="132555"/>
              </a:lnSpc>
              <a:defRPr sz="1900">
                <a:solidFill>
                  <a:srgbClr val="767485"/>
                </a:solidFill>
                <a:latin typeface="Source Han Sans SC"/>
              </a:defRPr>
            </a:pPr>
            <a:r>
              <a:t>maintains a comfortable temperatur</a:t>
            </a:r>
          </a:p>
          <a:p>
            <a:pPr>
              <a:lnSpc>
                <a:spcPct val="132555"/>
              </a:lnSpc>
              <a:defRPr sz="1900">
                <a:solidFill>
                  <a:srgbClr val="6E6B7B"/>
                </a:solidFill>
                <a:latin typeface="Source Han Sans SC"/>
              </a:defRPr>
            </a:pPr>
            <a:r>
              <a:t>Utility-Based Agent.</a:t>
            </a:r>
          </a:p>
          <a:p>
            <a:pPr>
              <a:lnSpc>
                <a:spcPct val="132555"/>
              </a:lnSpc>
              <a:defRPr sz="1900">
                <a:solidFill>
                  <a:srgbClr val="747081"/>
                </a:solidFill>
                <a:latin typeface="Source Han Sans SC"/>
              </a:defRPr>
            </a:pPr>
            <a:r>
              <a:t>chooses the best action based on wefulness.</a:t>
            </a:r>
          </a:p>
          <a:p>
            <a:pPr>
              <a:lnSpc>
                <a:spcPct val="132555"/>
              </a:lnSpc>
              <a:defRPr sz="1900">
                <a:solidFill>
                  <a:srgbClr val="69626F"/>
                </a:solidFill>
                <a:latin typeface="Source Han Sans SC"/>
              </a:defRPr>
            </a:pPr>
            <a:r>
              <a:t>Example: balances confort, energy saving,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32509" y="8376885"/>
            <a:ext cx="429584" cy="18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14E50"/>
                </a:solidFill>
                <a:latin typeface="Source Han Sans SC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3825" y="8806470"/>
            <a:ext cx="138080" cy="138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A3852"/>
                </a:solidFill>
                <a:latin typeface="Source Han Sans SC"/>
              </a:defRPr>
            </a:pPr>
            <a:r>
              <a:t>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6013" y="11598765"/>
            <a:ext cx="1104644" cy="3835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B5F66"/>
                </a:solidFill>
                <a:latin typeface="Source Han Sans SC"/>
              </a:defRPr>
            </a:pPr>
            <a:r>
              <a:t>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28657" cy="12902859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14" y="702177"/>
            <a:ext cx="7895058" cy="105935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28657" cy="12902859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68" y="4088588"/>
            <a:ext cx="7952396" cy="79639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2634" y="1493349"/>
            <a:ext cx="6173568" cy="30301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747C95"/>
                </a:solidFill>
                <a:latin typeface="Source Han Sans SC"/>
              </a:defRPr>
            </a:pPr>
            <a:r>
              <a:t>Iteractive Deeping Search (IDS),</a:t>
            </a:r>
          </a:p>
          <a:p>
            <a:pPr>
              <a:lnSpc>
                <a:spcPct val="150000"/>
              </a:lnSpc>
              <a:defRPr sz="2100">
                <a:solidFill>
                  <a:srgbClr val="7D859C"/>
                </a:solidFill>
                <a:latin typeface="Source Han Sans SC"/>
              </a:defRPr>
            </a:pPr>
            <a:r>
              <a:t>Searches </a:t>
            </a:r>
          </a:p>
          <a:p>
            <a:pPr>
              <a:lnSpc>
                <a:spcPct val="150000"/>
              </a:lnSpc>
              <a:defRPr sz="2100">
                <a:solidFill>
                  <a:srgbClr val="838BA0"/>
                </a:solidFill>
                <a:latin typeface="Source Han Sans SC"/>
              </a:defRPr>
            </a:pPr>
            <a:r>
              <a:t>depth, then depth 7, depth 2 and so on</a:t>
            </a:r>
          </a:p>
          <a:p>
            <a:pPr>
              <a:lnSpc>
                <a:spcPct val="150000"/>
              </a:lnSpc>
              <a:defRPr sz="2100">
                <a:solidFill>
                  <a:srgbClr val="848B9F"/>
                </a:solidFill>
                <a:latin typeface="Source Han Sans SC"/>
              </a:defRPr>
            </a:pPr>
            <a:r>
              <a:t>Advantage: Uses less memory and is complete</a:t>
            </a:r>
          </a:p>
          <a:p>
            <a:pPr>
              <a:lnSpc>
                <a:spcPct val="150000"/>
              </a:lnSpc>
              <a:defRPr sz="2100">
                <a:solidFill>
                  <a:srgbClr val="9399AB"/>
                </a:solidFill>
                <a:latin typeface="Source Han Sans SC"/>
              </a:defRPr>
            </a:pPr>
            <a:r>
              <a:t>disadvantage: Repeats Searches, So it can tak</a:t>
            </a:r>
          </a:p>
          <a:p>
            <a:pPr>
              <a:lnSpc>
                <a:spcPct val="150000"/>
              </a:lnSpc>
              <a:defRPr sz="2100">
                <a:solidFill>
                  <a:srgbClr val="9399AB"/>
                </a:solidFill>
                <a:latin typeface="Source Han Sans SC"/>
              </a:defRPr>
            </a:pPr>
            <a:r>
              <a:t>Best coarbination: A model-based/good based</a:t>
            </a:r>
          </a:p>
          <a:p>
            <a:pPr>
              <a:lnSpc>
                <a:spcPct val="150000"/>
              </a:lnSpc>
              <a:defRPr sz="2100">
                <a:solidFill>
                  <a:srgbClr val="9399AB"/>
                </a:solidFill>
                <a:latin typeface="Source Han Sans SC"/>
              </a:defRPr>
            </a:pPr>
            <a:r>
              <a:t>goa based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6814" y="2102288"/>
            <a:ext cx="150574" cy="1304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87"/>
                </a:solidFill>
                <a:latin typeface="Source Han Sans SC"/>
              </a:defRPr>
            </a:pPr>
            <a: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70011" y="3334664"/>
            <a:ext cx="1231975" cy="391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8A92A7"/>
                </a:solidFill>
                <a:latin typeface="Source Han Sans SC"/>
              </a:defRPr>
            </a:pPr>
            <a:r>
              <a:t>more teine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