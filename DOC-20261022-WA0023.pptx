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7569200" cy="10693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>
            <a:off x="2540000" y="6483350"/>
            <a:ext cx="203200" cy="0"/>
          </a:xfrm>
          <a:prstGeom prst="line">
            <a:avLst/>
          </a:prstGeom>
          <a:ln w="12700">
            <a:solidFill>
              <a:srgbClr val="312933"/>
            </a:solidFill>
          </a:ln>
        </p:spPr>
      </p:cxnSp>
      <p:cxnSp>
        <p:nvCxnSpPr>
          <p:cNvPr name="Connector 3" id="3"/>
          <p:cNvCxnSpPr/>
          <p:nvPr/>
        </p:nvCxnSpPr>
        <p:spPr>
          <a:xfrm>
            <a:off x="2743200" y="6483350"/>
            <a:ext cx="101600" cy="0"/>
          </a:xfrm>
          <a:prstGeom prst="line">
            <a:avLst/>
          </a:prstGeom>
          <a:ln w="12700">
            <a:solidFill>
              <a:srgbClr val="080709"/>
            </a:solidFill>
          </a:ln>
        </p:spPr>
      </p:cxnSp>
      <p:cxnSp>
        <p:nvCxnSpPr>
          <p:cNvPr name="Connector 4" id="4"/>
          <p:cNvCxnSpPr/>
          <p:nvPr/>
        </p:nvCxnSpPr>
        <p:spPr>
          <a:xfrm>
            <a:off x="2844800" y="6483350"/>
            <a:ext cx="127000" cy="0"/>
          </a:xfrm>
          <a:prstGeom prst="line">
            <a:avLst/>
          </a:prstGeom>
          <a:ln w="12700">
            <a:solidFill>
              <a:srgbClr val="312933"/>
            </a:solidFill>
          </a:ln>
        </p:spPr>
      </p:cxnSp>
      <p:cxnSp>
        <p:nvCxnSpPr>
          <p:cNvPr name="Connector 5" id="5"/>
          <p:cNvCxnSpPr/>
          <p:nvPr/>
        </p:nvCxnSpPr>
        <p:spPr>
          <a:xfrm>
            <a:off x="2971800" y="6483350"/>
            <a:ext cx="609600" cy="0"/>
          </a:xfrm>
          <a:prstGeom prst="line">
            <a:avLst/>
          </a:prstGeom>
          <a:ln w="12700">
            <a:solidFill>
              <a:srgbClr val="080709"/>
            </a:solidFill>
          </a:ln>
        </p:spPr>
      </p:cxnSp>
      <p:cxnSp>
        <p:nvCxnSpPr>
          <p:cNvPr name="Connector 6" id="6"/>
          <p:cNvCxnSpPr/>
          <p:nvPr/>
        </p:nvCxnSpPr>
        <p:spPr>
          <a:xfrm>
            <a:off x="3581400" y="6483350"/>
            <a:ext cx="152400" cy="0"/>
          </a:xfrm>
          <a:prstGeom prst="line">
            <a:avLst/>
          </a:prstGeom>
          <a:ln w="12700">
            <a:solidFill>
              <a:srgbClr val="312933"/>
            </a:solidFill>
          </a:ln>
        </p:spPr>
      </p:cxnSp>
      <p:cxnSp>
        <p:nvCxnSpPr>
          <p:cNvPr name="Connector 7" id="7"/>
          <p:cNvCxnSpPr/>
          <p:nvPr/>
        </p:nvCxnSpPr>
        <p:spPr>
          <a:xfrm>
            <a:off x="3733800" y="6483350"/>
            <a:ext cx="139700" cy="0"/>
          </a:xfrm>
          <a:prstGeom prst="line">
            <a:avLst/>
          </a:prstGeom>
          <a:ln w="12700">
            <a:solidFill>
              <a:srgbClr val="080709"/>
            </a:solidFill>
          </a:ln>
        </p:spPr>
      </p:cxnSp>
      <p:cxnSp>
        <p:nvCxnSpPr>
          <p:cNvPr name="Connector 8" id="8"/>
          <p:cNvCxnSpPr/>
          <p:nvPr/>
        </p:nvCxnSpPr>
        <p:spPr>
          <a:xfrm>
            <a:off x="3873500" y="6483350"/>
            <a:ext cx="660400" cy="0"/>
          </a:xfrm>
          <a:prstGeom prst="line">
            <a:avLst/>
          </a:prstGeom>
          <a:ln w="12700">
            <a:solidFill>
              <a:srgbClr val="1A171B"/>
            </a:solidFill>
          </a:ln>
        </p:spPr>
      </p:cxnSp>
      <p:cxnSp>
        <p:nvCxnSpPr>
          <p:cNvPr name="Connector 9" id="9"/>
          <p:cNvCxnSpPr/>
          <p:nvPr/>
        </p:nvCxnSpPr>
        <p:spPr>
          <a:xfrm>
            <a:off x="4533900" y="6483350"/>
            <a:ext cx="177800" cy="0"/>
          </a:xfrm>
          <a:prstGeom prst="line">
            <a:avLst/>
          </a:prstGeom>
          <a:ln w="12700">
            <a:solidFill>
              <a:srgbClr val="312933"/>
            </a:solidFill>
          </a:ln>
        </p:spPr>
      </p:cxnSp>
      <p:cxnSp>
        <p:nvCxnSpPr>
          <p:cNvPr name="Connector 10" id="10"/>
          <p:cNvCxnSpPr/>
          <p:nvPr/>
        </p:nvCxnSpPr>
        <p:spPr>
          <a:xfrm>
            <a:off x="4711700" y="6483350"/>
            <a:ext cx="368300" cy="0"/>
          </a:xfrm>
          <a:prstGeom prst="line">
            <a:avLst/>
          </a:prstGeom>
          <a:ln w="12700">
            <a:solidFill>
              <a:srgbClr val="080709"/>
            </a:solidFill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906780" y="3463290"/>
            <a:ext cx="5789930" cy="1905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906780" y="5093970"/>
            <a:ext cx="5789930" cy="1905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906780" y="7024370"/>
            <a:ext cx="5789930" cy="1905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>
            <a:off x="2645410" y="1827530"/>
            <a:ext cx="2354580" cy="4368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82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650" b="true" baseline="0" spc="-41">
                <a:solidFill>
                  <a:srgbClr val="1A181C"/>
                </a:solidFill>
                <a:latin typeface="Times New Roman"/>
              </a:rPr>
              <a:t>SIMATS ENGINEERING</a:t>
            </a:r>
            <a:endParaRPr lang="en-US" sz="1100"/>
          </a:p>
          <a:p>
            <a:pPr marL="259080" marR="0" indent="0" hangingPunct="false" algn="l">
              <a:lnSpc>
                <a:spcPts val="1490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1350" b="true" baseline="0" spc="-33">
                <a:solidFill>
                  <a:srgbClr val="312A33"/>
                </a:solidFill>
                <a:latin typeface="Times New Roman"/>
              </a:rPr>
              <a:t>ASSESSMENT </a:t>
            </a:r>
            <a:r>
              <a:rPr lang="en-US" sz="1350" b="true" baseline="0" spc="0">
                <a:solidFill>
                  <a:srgbClr val="1A181C"/>
                </a:solidFill>
                <a:latin typeface="Times New Roman"/>
              </a:rPr>
              <a:t>TOOL 2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915670" y="2762250"/>
            <a:ext cx="123571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30">
                <a:solidFill>
                  <a:srgbClr val="08070A"/>
                </a:solidFill>
                <a:latin typeface="Arial"/>
              </a:rPr>
              <a:t>COURSE NAME:​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2297430" y="2762250"/>
            <a:ext cx="153162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30">
                <a:solidFill>
                  <a:srgbClr val="08070A"/>
                </a:solidFill>
                <a:latin typeface="Arial"/>
              </a:rPr>
              <a:t>Artificial Intelligence​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4621530" y="2762250"/>
            <a:ext cx="171831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5">
                <a:solidFill>
                  <a:srgbClr val="08070A"/>
                </a:solidFill>
                <a:latin typeface="Arial"/>
              </a:rPr>
              <a:t>COURSE CODE: CSA17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915670" y="3789680"/>
            <a:ext cx="5998210" cy="11328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0">
                <a:solidFill>
                  <a:srgbClr val="08070A"/>
                </a:solidFill>
                <a:latin typeface="Arial"/>
              </a:rPr>
              <a:t>COURSE OUTCOME COVERED</a:t>
            </a:r>
            <a:endParaRPr lang="en-US" sz="1100"/>
          </a:p>
          <a:p>
            <a:pPr marL="0" marR="0" indent="0" hangingPunct="false" algn="l">
              <a:lnSpc>
                <a:spcPts val="1340"/>
              </a:lnSpc>
              <a:spcBef>
                <a:spcPts val="1729"/>
              </a:spcBef>
              <a:spcAft>
                <a:spcPct val="0"/>
              </a:spcAft>
            </a:pPr>
            <a:r>
              <a:rPr lang="en-US" sz="1200" b="true" i="true" baseline="0" spc="9">
                <a:solidFill>
                  <a:srgbClr val="08070A"/>
                </a:solidFill>
                <a:latin typeface="Arial"/>
              </a:rPr>
              <a:t>C01: </a:t>
            </a: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Apply A</a:t>
            </a:r>
            <a:r>
              <a:rPr lang="en-US" sz="1200" baseline="0" spc="-15">
                <a:solidFill>
                  <a:srgbClr val="2D3854"/>
                </a:solidFill>
                <a:latin typeface="Arial"/>
              </a:rPr>
              <a:t>l </a:t>
            </a: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basics such as in</a:t>
            </a:r>
            <a:r>
              <a:rPr lang="en-US" sz="1200" baseline="0" spc="-30">
                <a:solidFill>
                  <a:srgbClr val="2D3854"/>
                </a:solidFill>
                <a:latin typeface="Arial"/>
              </a:rPr>
              <a:t>t</a:t>
            </a: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elligen</a:t>
            </a:r>
            <a:r>
              <a:rPr lang="en-US" sz="1200" baseline="0" spc="-11">
                <a:solidFill>
                  <a:srgbClr val="2D3854"/>
                </a:solidFill>
                <a:latin typeface="Arial"/>
              </a:rPr>
              <a:t>t </a:t>
            </a:r>
            <a:r>
              <a:rPr lang="en-US" sz="1200" baseline="0" spc="-13">
                <a:solidFill>
                  <a:srgbClr val="312A33"/>
                </a:solidFill>
                <a:latin typeface="Arial"/>
              </a:rPr>
              <a:t>agen</a:t>
            </a:r>
            <a:r>
              <a:rPr lang="en-US" sz="1200" baseline="0" spc="-30">
                <a:solidFill>
                  <a:srgbClr val="2D3854"/>
                </a:solidFill>
                <a:latin typeface="Arial"/>
              </a:rPr>
              <a:t>t</a:t>
            </a: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s and uninformed search me</a:t>
            </a:r>
            <a:r>
              <a:rPr lang="en-US" sz="1200" baseline="0" spc="-30">
                <a:solidFill>
                  <a:srgbClr val="2D3854"/>
                </a:solidFill>
                <a:latin typeface="Arial"/>
              </a:rPr>
              <a:t>t</a:t>
            </a: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hods </a:t>
            </a:r>
            <a:r>
              <a:rPr lang="en-US" sz="1200" baseline="0" spc="-30">
                <a:solidFill>
                  <a:srgbClr val="2D3854"/>
                </a:solidFill>
                <a:latin typeface="Arial"/>
              </a:rPr>
              <a:t>t</a:t>
            </a: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o solve </a:t>
            </a:r>
          </a:p>
          <a:p>
            <a:pPr marL="0" marR="0" indent="0" hangingPunct="false" algn="l">
              <a:lnSpc>
                <a:spcPts val="13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problems effectively</a:t>
            </a:r>
            <a:r>
              <a:rPr lang="en-US" sz="1200" baseline="0" spc="2">
                <a:solidFill>
                  <a:srgbClr val="2D3854"/>
                </a:solidFill>
                <a:latin typeface="Arial"/>
              </a:rPr>
              <a:t>.</a:t>
            </a:r>
            <a:r>
              <a:rPr lang="en-US" sz="1200" baseline="0" spc="0">
                <a:solidFill>
                  <a:srgbClr val="4D4452"/>
                </a:solidFill>
                <a:latin typeface="Arial"/>
              </a:rPr>
              <a:t>( </a:t>
            </a:r>
            <a:r>
              <a:rPr lang="en-US" sz="1000" i="true" baseline="0" spc="-25">
                <a:solidFill>
                  <a:srgbClr val="312A33"/>
                </a:solidFill>
                <a:latin typeface="Arial"/>
              </a:rPr>
              <a:t>BL3</a:t>
            </a:r>
            <a:r>
              <a:rPr lang="en-US" sz="1000" i="true" baseline="0" spc="-3">
                <a:solidFill>
                  <a:srgbClr val="4D4452"/>
                </a:solidFill>
                <a:latin typeface="Arial"/>
              </a:rPr>
              <a:t>)</a:t>
            </a:r>
          </a:p>
          <a:p>
            <a:pPr marL="0" marR="0" indent="0" hangingPunct="false" algn="l">
              <a:lnSpc>
                <a:spcPts val="1340"/>
              </a:lnSpc>
              <a:spcBef>
                <a:spcPts val="1850"/>
              </a:spcBef>
              <a:spcAft>
                <a:spcPct val="0"/>
              </a:spcAft>
            </a:pPr>
            <a:r>
              <a:rPr lang="en-US" sz="1200" i="true" baseline="0" spc="-30">
                <a:solidFill>
                  <a:srgbClr val="312A33"/>
                </a:solidFill>
                <a:latin typeface="Arial"/>
              </a:rPr>
              <a:t>Assessment Tool </a:t>
            </a:r>
            <a:r>
              <a:rPr lang="en-US" sz="1200" i="true" baseline="0" spc="-30">
                <a:solidFill>
                  <a:srgbClr val="1A181C"/>
                </a:solidFill>
                <a:latin typeface="Arial"/>
              </a:rPr>
              <a:t>Weightage: </a:t>
            </a:r>
            <a:r>
              <a:rPr lang="en-US" sz="1200" i="true" baseline="0" spc="4">
                <a:solidFill>
                  <a:srgbClr val="312A33"/>
                </a:solidFill>
                <a:latin typeface="Arial"/>
              </a:rPr>
              <a:t>35%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915670" y="5427980"/>
            <a:ext cx="111760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2">
                <a:solidFill>
                  <a:srgbClr val="08070A"/>
                </a:solidFill>
                <a:latin typeface="Arial"/>
              </a:rPr>
              <a:t>QUESTIONS: </a:t>
            </a:r>
            <a:r>
              <a:rPr lang="en-US" sz="1200" b="true" baseline="0">
                <a:solidFill>
                  <a:srgbClr val="1A181C"/>
                </a:solidFill>
                <a:latin typeface="Arial"/>
              </a:rPr>
              <a:t>3​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049520" y="5427980"/>
            <a:ext cx="124460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30">
                <a:solidFill>
                  <a:srgbClr val="08070A"/>
                </a:solidFill>
                <a:latin typeface="Arial"/>
              </a:rPr>
              <a:t>Duration : 1 Hour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5064760" y="5603240"/>
            <a:ext cx="105537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r" marL="0" marR="44450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9">
                <a:solidFill>
                  <a:srgbClr val="08070A"/>
                </a:solidFill>
                <a:latin typeface="Arial"/>
              </a:rPr>
              <a:t>Total Marks:30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905510" y="5955030"/>
            <a:ext cx="5659121" cy="2672080"/>
          </a:xfrm>
          <a:prstGeom prst="rect">
            <a:avLst/>
          </a:prstGeom>
        </p:spPr>
        <p:txBody>
          <a:bodyPr anchor="ctr" rtlCol="false" vert="horz" anchorCtr="false" wrap="none" tIns="0" bIns="0" lIns="0" rIns="0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marL="0" marR="0" indent="0" hangingPunct="false" algn="l">
              <a:lnSpc>
                <a:spcPts val="13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aseline="0" spc="-30">
                <a:solidFill>
                  <a:srgbClr val="312A33"/>
                </a:solidFill>
                <a:latin typeface="Arial"/>
              </a:rPr>
              <a:t>Annexure A</a:t>
            </a:r>
          </a:p>
          <a:p>
            <a:pPr marL="1633220" marR="0" indent="0" hangingPunct="false" algn="l">
              <a:lnSpc>
                <a:spcPts val="1490"/>
              </a:lnSpc>
              <a:spcBef>
                <a:spcPts val="1489"/>
              </a:spcBef>
              <a:spcAft>
                <a:spcPct val="0"/>
              </a:spcAft>
            </a:pPr>
            <a:r>
              <a:rPr lang="en-US" sz="1350" b="true" baseline="0" spc="-33">
                <a:solidFill>
                  <a:srgbClr val="312A33"/>
                </a:solidFill>
                <a:latin typeface="Times New Roman"/>
              </a:rPr>
              <a:t>Co</a:t>
            </a:r>
            <a:r>
              <a:rPr lang="en-US" sz="1350" b="true" baseline="0" spc="4">
                <a:solidFill>
                  <a:srgbClr val="08070A"/>
                </a:solidFill>
                <a:latin typeface="Times New Roman"/>
              </a:rPr>
              <a:t>n</a:t>
            </a:r>
            <a:r>
              <a:rPr lang="en-US" sz="1350" b="true" baseline="0" spc="0">
                <a:solidFill>
                  <a:srgbClr val="312A33"/>
                </a:solidFill>
                <a:latin typeface="Times New Roman"/>
              </a:rPr>
              <a:t>st</a:t>
            </a:r>
            <a:r>
              <a:rPr lang="en-US" sz="1350" b="true" baseline="0" spc="12">
                <a:solidFill>
                  <a:srgbClr val="08070A"/>
                </a:solidFill>
                <a:latin typeface="Times New Roman"/>
              </a:rPr>
              <a:t>raint-Ba</a:t>
            </a:r>
            <a:r>
              <a:rPr lang="en-US" sz="1350" b="true" baseline="0" spc="4">
                <a:solidFill>
                  <a:srgbClr val="312A33"/>
                </a:solidFill>
                <a:latin typeface="Times New Roman"/>
              </a:rPr>
              <a:t>se</a:t>
            </a:r>
            <a:r>
              <a:rPr lang="en-US" sz="1350" b="true" baseline="0" spc="3">
                <a:solidFill>
                  <a:srgbClr val="08070A"/>
                </a:solidFill>
                <a:latin typeface="Times New Roman"/>
              </a:rPr>
              <a:t>d </a:t>
            </a:r>
            <a:r>
              <a:rPr lang="en-US" sz="1350" b="true" baseline="0" spc="3">
                <a:solidFill>
                  <a:srgbClr val="1A181C"/>
                </a:solidFill>
                <a:latin typeface="Times New Roman"/>
              </a:rPr>
              <a:t>Problem </a:t>
            </a:r>
            <a:r>
              <a:rPr lang="en-US" sz="1350" b="true" baseline="0" spc="-33">
                <a:solidFill>
                  <a:srgbClr val="312A33"/>
                </a:solidFill>
                <a:latin typeface="Times New Roman"/>
              </a:rPr>
              <a:t>So</a:t>
            </a:r>
            <a:r>
              <a:rPr lang="en-US" sz="1350" b="true" baseline="0" spc="4">
                <a:solidFill>
                  <a:srgbClr val="08070A"/>
                </a:solidFill>
                <a:latin typeface="Times New Roman"/>
              </a:rPr>
              <a:t>lving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6880"/>
              </a:spcBef>
              <a:spcAft>
                <a:spcPct val="0"/>
              </a:spcAft>
            </a:pPr>
            <a:r>
              <a:rPr lang="en-US" sz="1100" b="true" i="true" baseline="0" spc="-27">
                <a:solidFill>
                  <a:srgbClr val="312A33"/>
                </a:solidFill>
                <a:latin typeface="Times New Roman"/>
              </a:rPr>
              <a:t>Code of Co</a:t>
            </a:r>
            <a:r>
              <a:rPr lang="en-US" sz="1100" b="true" i="true" baseline="0" spc="2">
                <a:solidFill>
                  <a:srgbClr val="08070A"/>
                </a:solidFill>
                <a:latin typeface="Times New Roman"/>
              </a:rPr>
              <a:t>n</a:t>
            </a:r>
            <a:r>
              <a:rPr lang="en-US" sz="1100" b="true" i="true" baseline="0" spc="-27">
                <a:solidFill>
                  <a:srgbClr val="312A33"/>
                </a:solidFill>
                <a:latin typeface="Times New Roman"/>
              </a:rPr>
              <a:t>duct</a:t>
            </a:r>
            <a:r>
              <a:rPr lang="en-US" sz="1100" b="true" i="true" baseline="0" spc="27">
                <a:solidFill>
                  <a:srgbClr val="08070A"/>
                </a:solidFill>
                <a:latin typeface="Times New Roman"/>
              </a:rPr>
              <a:t>:</a:t>
            </a:r>
          </a:p>
          <a:p>
            <a:pPr marL="19050" marR="0" indent="0" hangingPunct="false" algn="l">
              <a:lnSpc>
                <a:spcPts val="1330"/>
              </a:lnSpc>
              <a:spcBef>
                <a:spcPts val="1400"/>
              </a:spcBef>
              <a:spcAft>
                <a:spcPct val="0"/>
              </a:spcAft>
            </a:pPr>
            <a:r>
              <a:rPr lang="en-US" sz="1200" i="true" baseline="0" spc="-30">
                <a:solidFill>
                  <a:srgbClr val="5B5462"/>
                </a:solidFill>
                <a:latin typeface="Times New Roman"/>
              </a:rPr>
              <a:t>I am Vishvanandh M /1965260005</a:t>
            </a:r>
            <a:r>
              <a:rPr lang="en-US" sz="1200" i="true" baseline="0" spc="-30">
                <a:solidFill>
                  <a:srgbClr val="4D4452"/>
                </a:solidFill>
                <a:latin typeface="Times New Roman"/>
              </a:rPr>
              <a:t>certify that this </a:t>
            </a:r>
            <a:r>
              <a:rPr lang="en-US" sz="1200" i="true" baseline="0" spc="-30">
                <a:solidFill>
                  <a:srgbClr val="5B5462"/>
                </a:solidFill>
                <a:latin typeface="Times New Roman"/>
              </a:rPr>
              <a:t>submission </a:t>
            </a:r>
            <a:r>
              <a:rPr lang="en-US" sz="1200" i="true" baseline="0" spc="-17">
                <a:solidFill>
                  <a:srgbClr val="4D4452"/>
                </a:solidFill>
                <a:latin typeface="Times New Roman"/>
              </a:rPr>
              <a:t>is my original </a:t>
            </a:r>
            <a:r>
              <a:rPr lang="en-US" sz="1200" i="true" baseline="0" spc="-30">
                <a:solidFill>
                  <a:srgbClr val="5B5462"/>
                </a:solidFill>
                <a:latin typeface="Times New Roman"/>
              </a:rPr>
              <a:t>work </a:t>
            </a:r>
            <a:r>
              <a:rPr lang="en-US" sz="1200" i="true" baseline="0" spc="-30">
                <a:solidFill>
                  <a:srgbClr val="4D4452"/>
                </a:solidFill>
                <a:latin typeface="Times New Roman"/>
              </a:rPr>
              <a:t>and that I </a:t>
            </a:r>
          </a:p>
          <a:p>
            <a:pPr marL="10160" marR="0" indent="0" hangingPunct="false" algn="l">
              <a:lnSpc>
                <a:spcPts val="1330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1200" i="true" baseline="0" spc="-30">
                <a:solidFill>
                  <a:srgbClr val="4D4452"/>
                </a:solidFill>
                <a:latin typeface="Times New Roman"/>
              </a:rPr>
              <a:t>have adhered to the </a:t>
            </a:r>
            <a:r>
              <a:rPr lang="en-US" sz="1200" i="true" baseline="0" spc="-13">
                <a:solidFill>
                  <a:srgbClr val="5B5462"/>
                </a:solidFill>
                <a:latin typeface="Times New Roman"/>
              </a:rPr>
              <a:t>guidelines specified </a:t>
            </a:r>
            <a:r>
              <a:rPr lang="en-US" sz="1200" i="true" baseline="0" spc="-30">
                <a:solidFill>
                  <a:srgbClr val="4D4452"/>
                </a:solidFill>
                <a:latin typeface="Times New Roman"/>
              </a:rPr>
              <a:t>for this assessment</a:t>
            </a:r>
            <a:r>
              <a:rPr lang="en-US" sz="1200" i="true" baseline="0" spc="-30">
                <a:solidFill>
                  <a:srgbClr val="525B79"/>
                </a:solidFill>
                <a:latin typeface="Times New Roman"/>
              </a:rPr>
              <a:t>.</a:t>
            </a:r>
          </a:p>
          <a:p>
            <a:pPr marL="19050" marR="0" indent="0" hangingPunct="false" algn="l">
              <a:lnSpc>
                <a:spcPts val="1330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1200" i="true" baseline="0" spc="-30">
                <a:solidFill>
                  <a:srgbClr val="4D4452"/>
                </a:solidFill>
                <a:latin typeface="Times New Roman"/>
              </a:rPr>
              <a:t>I understand that any violation of academic integrity ru</a:t>
            </a:r>
            <a:r>
              <a:rPr lang="en-US" sz="1200" i="true" baseline="0" spc="14">
                <a:solidFill>
                  <a:srgbClr val="312A33"/>
                </a:solidFill>
                <a:latin typeface="Times New Roman"/>
              </a:rPr>
              <a:t>l</a:t>
            </a:r>
            <a:r>
              <a:rPr lang="en-US" sz="1200" i="true" baseline="0" spc="4">
                <a:solidFill>
                  <a:srgbClr val="4D4452"/>
                </a:solidFill>
                <a:latin typeface="Times New Roman"/>
              </a:rPr>
              <a:t>es </a:t>
            </a:r>
            <a:r>
              <a:rPr lang="en-US" sz="1200" i="true" baseline="0" spc="-7">
                <a:solidFill>
                  <a:srgbClr val="5B5462"/>
                </a:solidFill>
                <a:latin typeface="Times New Roman"/>
              </a:rPr>
              <a:t>will </a:t>
            </a:r>
            <a:r>
              <a:rPr lang="en-US" sz="1200" i="true" baseline="0" spc="-30">
                <a:solidFill>
                  <a:srgbClr val="4D4452"/>
                </a:solidFill>
                <a:latin typeface="Times New Roman"/>
              </a:rPr>
              <a:t>result in disciplinary action</a:t>
            </a:r>
            <a:r>
              <a:rPr lang="en-US" sz="1200" i="true" baseline="0" spc="-30">
                <a:solidFill>
                  <a:srgbClr val="525B79"/>
                </a:solidFill>
                <a:latin typeface="Times New Roman"/>
              </a:rPr>
              <a:t>.</a:t>
            </a:r>
          </a:p>
          <a:p>
            <a:pPr marL="10160" marR="0" indent="0" hangingPunct="false" algn="l">
              <a:lnSpc>
                <a:spcPts val="1330"/>
              </a:lnSpc>
              <a:spcBef>
                <a:spcPts val="1660"/>
              </a:spcBef>
              <a:spcAft>
                <a:spcPct val="0"/>
              </a:spcAft>
            </a:pPr>
            <a:r>
              <a:rPr lang="en-US" sz="1100" b="true" i="true" baseline="0" spc="4">
                <a:solidFill>
                  <a:srgbClr val="312A33"/>
                </a:solidFill>
                <a:latin typeface="Times New Roman"/>
              </a:rPr>
              <a:t>Sig</a:t>
            </a:r>
            <a:r>
              <a:rPr lang="en-US" sz="1100" b="true" i="true" baseline="0" spc="2">
                <a:solidFill>
                  <a:srgbClr val="08070A"/>
                </a:solidFill>
                <a:latin typeface="Times New Roman"/>
              </a:rPr>
              <a:t>n</a:t>
            </a:r>
            <a:r>
              <a:rPr lang="en-US" sz="1100" b="true" i="true" baseline="0" spc="-14">
                <a:solidFill>
                  <a:srgbClr val="312A33"/>
                </a:solidFill>
                <a:latin typeface="Times New Roman"/>
              </a:rPr>
              <a:t>ature of the stude</a:t>
            </a:r>
            <a:r>
              <a:rPr lang="en-US" sz="1100" b="true" i="true" baseline="0" spc="2">
                <a:solidFill>
                  <a:srgbClr val="08070A"/>
                </a:solidFill>
                <a:latin typeface="Times New Roman"/>
              </a:rPr>
              <a:t>n</a:t>
            </a:r>
            <a:r>
              <a:rPr lang="en-US" sz="1100" b="true" i="true" baseline="0" spc="-27">
                <a:solidFill>
                  <a:srgbClr val="312A33"/>
                </a:solidFill>
                <a:latin typeface="Times New Roman"/>
              </a:rPr>
              <a:t>t</a:t>
            </a:r>
            <a:r>
              <a:rPr lang="en-US" sz="1100" b="true" i="true" baseline="0" spc="27">
                <a:solidFill>
                  <a:srgbClr val="08070A"/>
                </a:solidFill>
                <a:latin typeface="Times New Roman"/>
              </a:rPr>
              <a:t>:</a:t>
            </a:r>
            <a:r>
              <a:rPr lang="en-US" sz="1200" i="true" baseline="0" spc="-30">
                <a:solidFill>
                  <a:srgbClr val="5B5462"/>
                </a:solidFill>
                <a:latin typeface="Times New Roman"/>
              </a:rPr>
              <a:t> Vishvanandh 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695960" y="1365250"/>
            <a:ext cx="6163310" cy="10160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4933950"/>
          <a:ext cx="6108700" cy="2006600"/>
        </p:xfrm>
        <a:graphic>
          <a:graphicData uri="http://schemas.openxmlformats.org/drawingml/2006/table">
            <a:tbl>
              <a:tblPr/>
              <a:tblGrid>
                <a:gridCol w="406400"/>
                <a:gridCol w="1587500"/>
                <a:gridCol w="2755900"/>
                <a:gridCol w="13589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4">
                          <a:solidFill>
                            <a:srgbClr val="000000"/>
                          </a:solidFill>
                          <a:latin typeface="Times New Roman"/>
                        </a:rPr>
                        <a:t>Step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6">
                          <a:solidFill>
                            <a:srgbClr val="000000"/>
                          </a:solidFill>
                          <a:latin typeface="Times New Roman"/>
                        </a:rPr>
                        <a:t>Partial assignment tried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Constraint checks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Result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41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 = M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C1: M ≠ N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. No other variable assigned yet.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6">
                          <a:solidFill>
                            <a:srgbClr val="000000"/>
                          </a:solidFill>
                          <a:latin typeface="Times New Roman"/>
                        </a:rPr>
                        <a:t>Accept → go deeper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lang="en-US" sz="1100"/>
                    </a:p>
                  </a:txBody>
                  <a:tcPr anchor="t" marT="596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 = M </a:t>
                      </a:r>
                      <a:endParaRPr lang="en-US" sz="1100"/>
                    </a:p>
                  </a:txBody>
                  <a:tcPr anchor="t" marT="596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C3: Morning already used by D1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Reject, try next value </a:t>
                      </a:r>
                      <a:endParaRPr lang="en-US" sz="1100"/>
                    </a:p>
                  </a:txBody>
                  <a:tcPr anchor="t" marT="596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</a:tr>
              <a:tr h="381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lang="en-US" sz="1100"/>
                    </a:p>
                  </a:txBody>
                  <a:tcPr anchor="t" marT="1231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 = A </a:t>
                      </a:r>
                      <a:endParaRPr lang="en-US" sz="1100"/>
                    </a:p>
                  </a:txBody>
                  <a:tcPr anchor="t" marT="1231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9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(A is free). C2 cannot be checked yet (D3 </a:t>
                      </a:r>
                      <a:endParaRPr lang="en-US" sz="1100"/>
                    </a:p>
                    <a:p>
                      <a:pPr marL="6223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unassigned). </a:t>
                      </a:r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6">
                          <a:solidFill>
                            <a:srgbClr val="000000"/>
                          </a:solidFill>
                          <a:latin typeface="Times New Roman"/>
                        </a:rPr>
                        <a:t>Accept → go deeper </a:t>
                      </a:r>
                      <a:endParaRPr lang="en-US" sz="1100"/>
                    </a:p>
                  </a:txBody>
                  <a:tcPr anchor="t" marT="1231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D2=A, D3 = M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C4: D3 ≠ Morning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(also 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-1">
                          <a:solidFill>
                            <a:srgbClr val="000000"/>
                          </a:solidFill>
                          <a:latin typeface="Times New Roman"/>
                        </a:rPr>
                        <a:t>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Reject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</a:tr>
              <a:tr h="254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lang="en-US" sz="1100"/>
                    </a:p>
                  </a:txBody>
                  <a:tcPr anchor="t" marT="609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D2=A, D3 = A </a:t>
                      </a:r>
                      <a:endParaRPr lang="en-US" sz="1100"/>
                    </a:p>
                  </a:txBody>
                  <a:tcPr anchor="t" marT="609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C3: Afternoon already used by D2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Reject </a:t>
                      </a:r>
                      <a:endParaRPr lang="en-US" sz="1100"/>
                    </a:p>
                  </a:txBody>
                  <a:tcPr anchor="t" marT="609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D5"/>
                    </a:solidFill>
                  </a:tcPr>
                </a:tc>
              </a:tr>
              <a:tr h="4064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lang="en-US" sz="1100"/>
                    </a:p>
                  </a:txBody>
                  <a:tcPr anchor="t" marT="1333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D2=A, D3 = N </a:t>
                      </a:r>
                      <a:endParaRPr lang="en-US" sz="1100"/>
                    </a:p>
                  </a:txBody>
                  <a:tcPr anchor="t" marT="1333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C1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, 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(M, A, N all different), C4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(N ≠ M), </a:t>
                      </a:r>
                      <a:endParaRPr lang="en-US" sz="1100"/>
                    </a:p>
                    <a:p>
                      <a:pPr marL="62230" marR="0" indent="0" hangingPunct="false" algn="l">
                        <a:lnSpc>
                          <a:spcPts val="1100"/>
                        </a:lnSpc>
                        <a:spcBef>
                          <a:spcPts val="89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C2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(A &lt; N), C5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(all assigned) </a:t>
                      </a:r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GOAL – valid schedule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found </a:t>
                      </a:r>
                    </a:p>
                  </a:txBody>
                  <a:tcPr anchor="t" marT="635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30250" y="7410450"/>
          <a:ext cx="6108700" cy="2438400"/>
        </p:xfrm>
        <a:graphic>
          <a:graphicData uri="http://schemas.openxmlformats.org/drawingml/2006/table">
            <a:tbl>
              <a:tblPr/>
              <a:tblGrid>
                <a:gridCol w="406400"/>
                <a:gridCol w="1587500"/>
                <a:gridCol w="2755900"/>
                <a:gridCol w="13589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4">
                          <a:solidFill>
                            <a:srgbClr val="000000"/>
                          </a:solidFill>
                          <a:latin typeface="Times New Roman"/>
                        </a:rPr>
                        <a:t>Step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Assignment tried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Constraint checks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Result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7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Backtrack to D2; D1=M, D2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= N </a:t>
                      </a:r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9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(N free) </a:t>
                      </a:r>
                      <a:endParaRPr lang="en-US" sz="1100"/>
                    </a:p>
                  </a:txBody>
                  <a:tcPr anchor="t" marT="1041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Accept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8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D2=N, D3 = M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C4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endParaRPr lang="en-US" sz="1100"/>
                    </a:p>
                  </a:txBody>
                  <a:tcPr anchor="t" marT="393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Reject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9 </a:t>
                      </a:r>
                      <a:endParaRPr lang="en-US" sz="1100"/>
                    </a:p>
                  </a:txBody>
                  <a:tcPr anchor="t" marT="1168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D1=M, D2=N, D3 = A </a:t>
                      </a:r>
                      <a:endParaRPr lang="en-US" sz="1100"/>
                    </a:p>
                  </a:txBody>
                  <a:tcPr anchor="t" marT="1168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, C4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, but C2: N &lt; A is false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endParaRPr lang="en-US" sz="1100"/>
                    </a:p>
                  </a:txBody>
                  <a:tcPr anchor="t" marT="1054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Reject → D3 exhausted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→ backtrack to D1 </a:t>
                      </a:r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10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 = A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C1: A ≠ N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endParaRPr lang="en-US" sz="1100"/>
                    </a:p>
                  </a:txBody>
                  <a:tcPr anchor="t" marT="393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Accept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54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9">
                          <a:solidFill>
                            <a:srgbClr val="000000"/>
                          </a:solidFill>
                          <a:latin typeface="Times New Roman"/>
                        </a:rPr>
                        <a:t>11 </a:t>
                      </a:r>
                      <a:endParaRPr lang="en-US" sz="1100"/>
                    </a:p>
                  </a:txBody>
                  <a:tcPr anchor="t" marT="57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D1=A, D2 = M </a:t>
                      </a:r>
                      <a:endParaRPr lang="en-US" sz="1100"/>
                    </a:p>
                  </a:txBody>
                  <a:tcPr anchor="t" marT="57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Accept </a:t>
                      </a:r>
                      <a:endParaRPr lang="en-US" sz="1100"/>
                    </a:p>
                  </a:txBody>
                  <a:tcPr anchor="t" marT="57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D1=A, D2=M, D3 = M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and C4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Reject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54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13 </a:t>
                      </a:r>
                      <a:endParaRPr lang="en-US" sz="1100"/>
                    </a:p>
                  </a:txBody>
                  <a:tcPr anchor="t" marT="57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D1=A, D2=M, D3 = A </a:t>
                      </a:r>
                      <a:endParaRPr lang="en-US" sz="1100"/>
                    </a:p>
                  </a:txBody>
                  <a:tcPr anchor="t" marT="57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9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(Afternoon used by D1)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Reject </a:t>
                      </a:r>
                      <a:endParaRPr lang="en-US" sz="1100"/>
                    </a:p>
                  </a:txBody>
                  <a:tcPr anchor="t" marT="57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14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D1=A, D2=M, D3 = N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C1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, C2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(M &lt; N), C3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14">
                          <a:solidFill>
                            <a:srgbClr val="000000"/>
                          </a:solidFill>
                          <a:latin typeface="Times New Roman"/>
                        </a:rPr>
                        <a:t>, C4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r>
                        <a:rPr lang="en-US" sz="850" baseline="0" spc="-14">
                          <a:solidFill>
                            <a:srgbClr val="000000"/>
                          </a:solidFill>
                          <a:latin typeface="Times New Roman"/>
                        </a:rPr>
                        <a:t>, C5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✔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Second valid solution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>
            <a:off x="715010" y="1126490"/>
            <a:ext cx="6035040" cy="3726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6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00" b="true" baseline="0" spc="3">
                <a:solidFill>
                  <a:srgbClr val="000000"/>
                </a:solidFill>
                <a:latin typeface="Times New Roman"/>
              </a:rPr>
              <a:t>Question 1: Hospital Shift Assignment (Backtracking Search) </a:t>
            </a:r>
            <a:endParaRPr lang="en-US" sz="1100"/>
          </a:p>
          <a:p>
            <a:pPr marL="0" marR="0" indent="0" hangingPunct="false" algn="l">
              <a:lnSpc>
                <a:spcPts val="1380"/>
              </a:lnSpc>
              <a:spcBef>
                <a:spcPts val="1250"/>
              </a:spcBef>
              <a:spcAft>
                <a:spcPct val="0"/>
              </a:spcAft>
            </a:pPr>
            <a:r>
              <a:rPr lang="en-US" sz="1250" b="true" baseline="0" spc="9">
                <a:solidFill>
                  <a:srgbClr val="000000"/>
                </a:solidFill>
                <a:latin typeface="Times New Roman"/>
              </a:rPr>
              <a:t>1.1​Problem formulation as a CSP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659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Variables: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D1, D2, D3 (one per doctor).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14">
                <a:solidFill>
                  <a:srgbClr val="000000"/>
                </a:solidFill>
                <a:latin typeface="Times New Roman"/>
              </a:rPr>
              <a:t> Domain of each variable: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{Morning (M), Afternoon (A), Night (N)}, ordered M &lt; A &lt; N.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Constraints: </a:t>
            </a:r>
          </a:p>
          <a:p>
            <a:pPr marL="514350" marR="0" indent="0" hangingPunct="false" algn="l">
              <a:lnSpc>
                <a:spcPts val="1220"/>
              </a:lnSpc>
              <a:spcBef>
                <a:spcPts val="550"/>
              </a:spcBef>
              <a:spcAft>
                <a:spcPct val="0"/>
              </a:spcAft>
            </a:pPr>
            <a:r>
              <a:rPr lang="en-US" sz="1100" baseline="0" spc="0">
                <a:solidFill>
                  <a:srgbClr val="000000"/>
                </a:solidFill>
                <a:latin typeface="Times New Roman"/>
              </a:rPr>
              <a:t>–​ C1: D1 ≠ Night </a:t>
            </a:r>
          </a:p>
          <a:p>
            <a:pPr marL="5143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 spc="-14">
                <a:solidFill>
                  <a:srgbClr val="000000"/>
                </a:solidFill>
                <a:latin typeface="Times New Roman"/>
              </a:rPr>
              <a:t>–​ C2: D2 must work before D3, i.e. shift(D2) &lt; shift(D3) </a:t>
            </a:r>
          </a:p>
          <a:p>
            <a:pPr marL="5143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 spc="-11">
                <a:solidFill>
                  <a:srgbClr val="000000"/>
                </a:solidFill>
                <a:latin typeface="Times New Roman"/>
              </a:rPr>
              <a:t>–​ C3: Only one doctor per shift (All-Different) </a:t>
            </a:r>
          </a:p>
          <a:p>
            <a:pPr marL="5143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 spc="-4">
                <a:solidFill>
                  <a:srgbClr val="000000"/>
                </a:solidFill>
                <a:latin typeface="Times New Roman"/>
              </a:rPr>
              <a:t>–​ C4: D3 ≠ Morning </a:t>
            </a:r>
          </a:p>
          <a:p>
            <a:pPr marL="514350" marR="0" indent="0" hangingPunct="false" algn="l">
              <a:lnSpc>
                <a:spcPts val="1220"/>
              </a:lnSpc>
              <a:spcBef>
                <a:spcPts val="550"/>
              </a:spcBef>
              <a:spcAft>
                <a:spcPct val="0"/>
              </a:spcAft>
            </a:pPr>
            <a:r>
              <a:rPr lang="en-US" sz="1100" baseline="0" spc="-13">
                <a:solidFill>
                  <a:srgbClr val="000000"/>
                </a:solidFill>
                <a:latin typeface="Times New Roman"/>
              </a:rPr>
              <a:t>–​ C5: Every doctor gets exactly one shift (complete assignment, 3 doctors – 3 shifts)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="true" baseline="0" spc="2">
                <a:solidFill>
                  <a:srgbClr val="000000"/>
                </a:solidFill>
                <a:latin typeface="Times New Roman"/>
              </a:rPr>
              <a:t>Node consistency (unary constraints applied first):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C1 reduces D1 to {M, A}; C4 reduces D3 to {A, N}.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D2 keeps {M, A, N}. C2, C3 and C5 are binary / global constraints that are checked during search.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730"/>
              </a:spcBef>
              <a:spcAft>
                <a:spcPct val="0"/>
              </a:spcAft>
            </a:pPr>
            <a:r>
              <a:rPr lang="en-US" sz="1100" b="true" baseline="0" spc="9">
                <a:solidFill>
                  <a:srgbClr val="000000"/>
                </a:solidFill>
                <a:latin typeface="Times New Roman"/>
              </a:rPr>
              <a:t>Search settings: </a:t>
            </a:r>
            <a:r>
              <a:rPr lang="en-US" sz="1100" baseline="0" spc="-15">
                <a:solidFill>
                  <a:srgbClr val="000000"/>
                </a:solidFill>
                <a:latin typeface="Times New Roman"/>
              </a:rPr>
              <a:t>variable order D1 → D2 → D3, value order M → A → N, depth-first search. After every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assignment, all constraints whose variables are fully assigned are checked; if one fails the algorithm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backtracks to the previous choice. </a:t>
            </a:r>
          </a:p>
          <a:p>
            <a:pPr marL="0" marR="0" indent="0" hangingPunct="false" algn="l">
              <a:lnSpc>
                <a:spcPts val="1380"/>
              </a:lnSpc>
              <a:spcBef>
                <a:spcPts val="1430"/>
              </a:spcBef>
              <a:spcAft>
                <a:spcPct val="0"/>
              </a:spcAft>
            </a:pPr>
            <a:r>
              <a:rPr lang="en-US" sz="1250" b="true" baseline="0" spc="12">
                <a:solidFill>
                  <a:srgbClr val="000000"/>
                </a:solidFill>
                <a:latin typeface="Times New Roman"/>
              </a:rPr>
              <a:t>1.2​Backtracking trace with constraint checks 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5010" y="7170420"/>
            <a:ext cx="4132580" cy="1536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1">
                <a:solidFill>
                  <a:srgbClr val="000000"/>
                </a:solidFill>
                <a:latin typeface="Times New Roman"/>
              </a:rPr>
              <a:t>Continuing the search (to confirm all solutions / show backtracking): 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30250" y="1377950"/>
          <a:ext cx="6108700" cy="965200"/>
        </p:xfrm>
        <a:graphic>
          <a:graphicData uri="http://schemas.openxmlformats.org/drawingml/2006/table">
            <a:tbl>
              <a:tblPr/>
              <a:tblGrid>
                <a:gridCol w="406400"/>
                <a:gridCol w="1587500"/>
                <a:gridCol w="2755900"/>
                <a:gridCol w="13589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4">
                          <a:solidFill>
                            <a:srgbClr val="000000"/>
                          </a:solidFill>
                          <a:latin typeface="Times New Roman"/>
                        </a:rPr>
                        <a:t>Step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Assignment tried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Constraint checks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Result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381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15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D1=A, D2 = A / N …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09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D2 = A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(C3). D2 = N: D3 = M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(C4), D3 = A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endParaRPr lang="en-US" sz="1100"/>
                    </a:p>
                    <a:p>
                      <a:pPr marL="6223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6">
                          <a:solidFill>
                            <a:srgbClr val="000000"/>
                          </a:solidFill>
                          <a:latin typeface="Times New Roman"/>
                        </a:rPr>
                        <a:t>(C3 &amp; C2) → dead end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Backtrack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16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 = N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2230" marR="0" indent="0" hangingPunct="false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C1 </a:t>
                      </a:r>
                      <a:r>
                        <a:rPr lang="en-US" sz="850" baseline="0" spc="23">
                          <a:solidFill>
                            <a:srgbClr val="000000"/>
                          </a:solidFill>
                          <a:ea typeface="Times New Roman"/>
                        </a:rPr>
                        <a:t>✘</a:t>
                      </a:r>
                      <a:r>
                        <a:rPr lang="en-US" sz="850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(D1 cannot work Night) </a:t>
                      </a:r>
                      <a:endParaRPr lang="en-US" sz="1100"/>
                    </a:p>
                  </a:txBody>
                  <a:tcPr anchor="t" marT="1041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Pruned (already removed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by node consistency)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2940050"/>
          <a:ext cx="3810000" cy="8890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Doctor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Shift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D1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Morning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D2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Afternoon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D3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Night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15010" y="2687320"/>
            <a:ext cx="1626870" cy="1752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="true" baseline="0" spc="12">
                <a:solidFill>
                  <a:srgbClr val="000000"/>
                </a:solidFill>
                <a:latin typeface="Times New Roman"/>
              </a:rPr>
              <a:t>1.3​Final valid schedule 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715010" y="4062730"/>
            <a:ext cx="6177280" cy="14046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1">
                <a:solidFill>
                  <a:srgbClr val="000000"/>
                </a:solidFill>
                <a:latin typeface="Times New Roman"/>
              </a:rPr>
              <a:t>Verification: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C1 </a:t>
            </a:r>
            <a:r>
              <a:rPr lang="en-US" sz="1100" baseline="0" spc="27">
                <a:solidFill>
                  <a:srgbClr val="000000"/>
                </a:solidFill>
                <a:ea typeface="Times New Roman"/>
              </a:rPr>
              <a:t>✔</a:t>
            </a:r>
            <a:r>
              <a:rPr lang="en-US" sz="1100" baseline="0" spc="-5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(D1 is on Morning, not Night); C2 </a:t>
            </a:r>
            <a:r>
              <a:rPr lang="en-US" sz="1100" baseline="0" spc="27">
                <a:solidFill>
                  <a:srgbClr val="000000"/>
                </a:solidFill>
                <a:ea typeface="Times New Roman"/>
              </a:rPr>
              <a:t>✔</a:t>
            </a:r>
            <a:r>
              <a:rPr lang="en-US" sz="1100" baseline="0" spc="-5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(D2 Afternoon &lt; D3 Night); C3 </a:t>
            </a:r>
            <a:r>
              <a:rPr lang="en-US" sz="1100" baseline="0" spc="27">
                <a:solidFill>
                  <a:srgbClr val="000000"/>
                </a:solidFill>
                <a:ea typeface="Times New Roman"/>
              </a:rPr>
              <a:t>✔</a:t>
            </a:r>
            <a:r>
              <a:rPr lang="en-US" sz="1100" baseline="0" spc="-5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(one doctor per </a:t>
            </a:r>
            <a:endParaRPr lang="en-US" sz="1100"/>
          </a:p>
          <a:p>
            <a:pPr marL="0" marR="0" indent="0" hangingPunct="false" algn="l">
              <a:lnSpc>
                <a:spcPts val="1260"/>
              </a:lnSpc>
              <a:spcBef>
                <a:spcPts val="259"/>
              </a:spcBef>
              <a:spcAft>
                <a:spcPct val="0"/>
              </a:spcAft>
            </a:pPr>
            <a:r>
              <a:rPr lang="en-US" sz="1100" baseline="0" spc="-14">
                <a:solidFill>
                  <a:srgbClr val="000000"/>
                </a:solidFill>
                <a:latin typeface="Times New Roman"/>
              </a:rPr>
              <a:t>shift); C4 </a:t>
            </a:r>
            <a:r>
              <a:rPr lang="en-US" sz="1100" baseline="0" spc="27">
                <a:solidFill>
                  <a:srgbClr val="000000"/>
                </a:solidFill>
                <a:ea typeface="Times New Roman"/>
              </a:rPr>
              <a:t>✔</a:t>
            </a:r>
            <a:r>
              <a:rPr lang="en-US" sz="1100" baseline="0" spc="-5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(D3 is on Night, not Morning); C5 </a:t>
            </a:r>
            <a:r>
              <a:rPr lang="en-US" sz="1100" baseline="0" spc="27">
                <a:solidFill>
                  <a:srgbClr val="000000"/>
                </a:solidFill>
                <a:ea typeface="Times New Roman"/>
              </a:rPr>
              <a:t>✔</a:t>
            </a:r>
            <a:r>
              <a:rPr lang="en-US" sz="1100" baseline="0" spc="-5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(every doctor has exactly one shift).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740"/>
              </a:spcBef>
              <a:spcAft>
                <a:spcPct val="0"/>
              </a:spcAft>
            </a:pPr>
            <a:r>
              <a:rPr lang="en-US" sz="1100" b="true" baseline="0" spc="-15">
                <a:solidFill>
                  <a:srgbClr val="000000"/>
                </a:solidFill>
                <a:latin typeface="Times New Roman"/>
              </a:rPr>
              <a:t>Note: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The constraints actually admit two schedules – (D1=Morning, D2=Afternoon, D3=Night) and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(D1=Afternoon, D2=Morning, D3=Night). Backtracking with the stated variable/value ordering reaches the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first one first, so it is reported as the answer. In both, D3 works Night.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740"/>
              </a:spcBef>
              <a:spcAft>
                <a:spcPct val="0"/>
              </a:spcAft>
            </a:pPr>
            <a:r>
              <a:rPr lang="en-US" sz="1100" b="true" baseline="0" spc="4">
                <a:solidFill>
                  <a:srgbClr val="000000"/>
                </a:solidFill>
                <a:latin typeface="Times New Roman"/>
              </a:rPr>
              <a:t>Possible improvement: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Using Forward Checking / MRV would remove D3’s values M and A early and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finish in fewer steps, but plain backtracking is sufficient for this small problem.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695960" y="955040"/>
            <a:ext cx="6163310" cy="10160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520950" y="1771650"/>
          <a:ext cx="2514600" cy="1955800"/>
        </p:xfrm>
        <a:graphic>
          <a:graphicData uri="http://schemas.openxmlformats.org/drawingml/2006/table">
            <a:tbl>
              <a:tblPr/>
              <a:tblGrid>
                <a:gridCol w="495300"/>
                <a:gridCol w="508000"/>
                <a:gridCol w="508000"/>
                <a:gridCol w="508000"/>
                <a:gridCol w="495300"/>
              </a:tblGrid>
              <a:tr h="393700">
                <a:tc>
                  <a:txBody>
                    <a:bodyPr anchor="t" rtlCol="false" anchorCtr="false" wrap="none"/>
                    <a:lstStyle/>
                    <a:p>
                      <a:pPr algn="l" marL="21844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="true" baseline="0" spc="4">
                          <a:solidFill>
                            <a:srgbClr val="000000"/>
                          </a:solidFill>
                          <a:latin typeface="Times New Roman"/>
                        </a:rPr>
                        <a:t>S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E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9779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(0,1)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(0,2)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478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(0,3)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(0,4)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(1,0) </a:t>
                      </a:r>
                      <a:endParaRPr lang="en-US" sz="1100"/>
                    </a:p>
                  </a:txBody>
                  <a:tcPr anchor="t" marT="1282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11938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282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(1,2) </a:t>
                      </a:r>
                      <a:endParaRPr lang="en-US" sz="1100"/>
                    </a:p>
                  </a:txBody>
                  <a:tcPr anchor="t" marT="1282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63830" marR="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282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(1,4) </a:t>
                      </a:r>
                      <a:endParaRPr lang="en-US" sz="1100"/>
                    </a:p>
                  </a:txBody>
                  <a:tcPr anchor="t" marT="1282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(2,0) </a:t>
                      </a:r>
                      <a:endParaRPr lang="en-US" sz="1100"/>
                    </a:p>
                  </a:txBody>
                  <a:tcPr anchor="t" marT="1384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11938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371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(2,2) </a:t>
                      </a:r>
                      <a:endParaRPr lang="en-US" sz="1100"/>
                    </a:p>
                  </a:txBody>
                  <a:tcPr anchor="t" marT="1384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478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(2,3) </a:t>
                      </a:r>
                      <a:endParaRPr lang="en-US" sz="1100"/>
                    </a:p>
                  </a:txBody>
                  <a:tcPr anchor="t" marT="1384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(2,4) </a:t>
                      </a:r>
                      <a:endParaRPr lang="en-US" sz="1100"/>
                    </a:p>
                  </a:txBody>
                  <a:tcPr anchor="t" marT="1384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(3,0) </a:t>
                      </a:r>
                      <a:endParaRPr lang="en-US" sz="1100"/>
                    </a:p>
                  </a:txBody>
                  <a:tcPr anchor="t" marT="1346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9779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(3,1) </a:t>
                      </a:r>
                      <a:endParaRPr lang="en-US" sz="1100"/>
                    </a:p>
                  </a:txBody>
                  <a:tcPr anchor="t" marT="1346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(3,2) </a:t>
                      </a:r>
                      <a:endParaRPr lang="en-US" sz="1100"/>
                    </a:p>
                  </a:txBody>
                  <a:tcPr anchor="t" marT="1346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63830" marR="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346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(3,4) </a:t>
                      </a:r>
                      <a:endParaRPr lang="en-US" sz="1100"/>
                    </a:p>
                  </a:txBody>
                  <a:tcPr anchor="t" marT="1346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(4,0)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9779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(4,1)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(4,2)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478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(4,3)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20574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="true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G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30250" y="6419850"/>
          <a:ext cx="6121400" cy="3378200"/>
        </p:xfrm>
        <a:graphic>
          <a:graphicData uri="http://schemas.openxmlformats.org/drawingml/2006/table">
            <a:tbl>
              <a:tblPr/>
              <a:tblGrid>
                <a:gridCol w="330200"/>
                <a:gridCol w="1079500"/>
                <a:gridCol w="2362200"/>
                <a:gridCol w="23495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#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Node expanded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7">
                          <a:solidFill>
                            <a:srgbClr val="000000"/>
                          </a:solidFill>
                          <a:latin typeface="Times New Roman"/>
                        </a:rPr>
                        <a:t>Children generated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8">
                          <a:solidFill>
                            <a:srgbClr val="000000"/>
                          </a:solidFill>
                          <a:latin typeface="Times New Roman"/>
                        </a:rPr>
                        <a:t>Queue after step (front → back)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(0,0) [0]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(1,0), (0,1)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(1,0), (0,1)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(1,0) [1]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1">
                          <a:solidFill>
                            <a:srgbClr val="000000"/>
                          </a:solidFill>
                          <a:latin typeface="Times New Roman"/>
                        </a:rPr>
                        <a:t>(2,0) — (1,1) is an obstacle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(0,1), (2,0)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(0,1) [1]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(0,2) — (1,1) obstacle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(2,0), (0,2)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(2,0) [2]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(3,0) — (2,1) obstacle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(0,2), (3,0)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(0,2) [2]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(1,2), (0,3)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(3,0), (1,2), (0,3)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(3,0) [3]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(4,0), (3,1)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(1,2), (0,3), (4,0), (3,1)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7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(1,2) [3]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8">
                          <a:solidFill>
                            <a:srgbClr val="000000"/>
                          </a:solidFill>
                          <a:latin typeface="Times New Roman"/>
                        </a:rPr>
                        <a:t>(2,2) — (1,1), (1,3) obstacles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(0,3), (4,0), (3,1), (2,2)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8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(0,3) [3]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(0,4) — (1,3) obstacle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(4,0), (3,1), (2,2), (0,4)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9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(4,0) [4]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(4,1)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(3,1), (2,2), (0,4), (4,1)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10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(3,1) [4]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1">
                          <a:solidFill>
                            <a:srgbClr val="000000"/>
                          </a:solidFill>
                          <a:latin typeface="Times New Roman"/>
                        </a:rPr>
                        <a:t>(3,2) — (2,1) obstacle; (4,1) already visited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(2,2), (0,4), (4,1), (3,2)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9">
                          <a:solidFill>
                            <a:srgbClr val="000000"/>
                          </a:solidFill>
                          <a:latin typeface="Times New Roman"/>
                        </a:rPr>
                        <a:t>11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(2,2) [4]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(2,3) — (3,2) already visited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(0,4), (4,1), (3,2), (2,3)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(0,4) [4]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(1,4)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(4,1), (3,2), (2,3), (1,4)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13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(4,1) [5]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(4,2)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(3,2), (2,3), (1,4), (4,2)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14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(3,2) [5]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none new — (3,3) obstacle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(2,3), (1,4), (4,2)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>
            <a:off x="715010" y="716280"/>
            <a:ext cx="5975350" cy="9690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6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00" b="true" baseline="0" spc="-2">
                <a:solidFill>
                  <a:srgbClr val="000000"/>
                </a:solidFill>
                <a:latin typeface="Times New Roman"/>
              </a:rPr>
              <a:t>Question 2: Robot in a 5×5 Grid (BFS and Manhattan-Heuristic Search) </a:t>
            </a:r>
            <a:endParaRPr lang="en-US" sz="1100"/>
          </a:p>
          <a:p>
            <a:pPr marL="0" marR="0" indent="0" hangingPunct="false" algn="l">
              <a:lnSpc>
                <a:spcPts val="1390"/>
              </a:lnSpc>
              <a:spcBef>
                <a:spcPts val="1250"/>
              </a:spcBef>
              <a:spcAft>
                <a:spcPct val="0"/>
              </a:spcAft>
            </a:pPr>
            <a:r>
              <a:rPr lang="en-US" sz="1250" b="true" baseline="0" spc="10">
                <a:solidFill>
                  <a:srgbClr val="000000"/>
                </a:solidFill>
                <a:latin typeface="Times New Roman"/>
              </a:rPr>
              <a:t>2.1​Problem definition and assumed grid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6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The question paper does not print the grid, so the following 5×5 grid is assumed. Cells are written as (row,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column) with (0,0) at the top-left. The same procedure applies to any other obstacle layout. 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5010" y="3952240"/>
            <a:ext cx="6148071" cy="23812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17145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Start S </a:t>
            </a:r>
            <a:r>
              <a:rPr lang="en-US" sz="1100" baseline="0" spc="-14">
                <a:solidFill>
                  <a:srgbClr val="000000"/>
                </a:solidFill>
                <a:latin typeface="Times New Roman"/>
              </a:rPr>
              <a:t>= (0,0); </a:t>
            </a:r>
            <a:r>
              <a:rPr lang="en-US" sz="1100" b="true" baseline="0" spc="-27">
                <a:solidFill>
                  <a:srgbClr val="000000"/>
                </a:solidFill>
                <a:latin typeface="Times New Roman"/>
              </a:rPr>
              <a:t>Goal G </a:t>
            </a:r>
            <a:r>
              <a:rPr lang="en-US" sz="1100" baseline="0" spc="-14">
                <a:solidFill>
                  <a:srgbClr val="000000"/>
                </a:solidFill>
                <a:latin typeface="Times New Roman"/>
              </a:rPr>
              <a:t>= (4,4); </a:t>
            </a:r>
            <a:r>
              <a:rPr lang="en-US" sz="1100" b="true" baseline="0" spc="0">
                <a:solidFill>
                  <a:srgbClr val="000000"/>
                </a:solidFill>
                <a:latin typeface="Times New Roman"/>
              </a:rPr>
              <a:t>Obstacles (X) </a:t>
            </a:r>
            <a:r>
              <a:rPr lang="en-US" sz="1100" baseline="0" spc="-10">
                <a:solidFill>
                  <a:srgbClr val="000000"/>
                </a:solidFill>
                <a:latin typeface="Times New Roman"/>
              </a:rPr>
              <a:t>= (1,1), (1,3), (2,1), (3,3). </a:t>
            </a:r>
            <a:endParaRPr lang="en-US" sz="1100"/>
          </a:p>
          <a:p>
            <a:pPr marL="1714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Actions: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Up, Down, Left, Right (expanded in this order). </a:t>
            </a:r>
            <a:r>
              <a:rPr lang="en-US" sz="1100" b="true" baseline="0" spc="-4">
                <a:solidFill>
                  <a:srgbClr val="000000"/>
                </a:solidFill>
                <a:latin typeface="Times New Roman"/>
              </a:rPr>
              <a:t>Step cost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= 1. Obstacles and cells outside the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grid cannot be entered.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Heuristic: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Manhattan distance h(n) = |r − 4| + |c − 4|. It is admissible and consistent for 4-directional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moves with unit cost, so h(S) = 8 is a lower bound on the optimal cost.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State space: </a:t>
            </a:r>
            <a:r>
              <a:rPr lang="en-US" sz="1100" baseline="0" spc="-15">
                <a:solidFill>
                  <a:srgbClr val="000000"/>
                </a:solidFill>
                <a:latin typeface="Times New Roman"/>
              </a:rPr>
              <a:t>the 25 − 4 = 21 free cells; goal test: n = (4,4).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="true" baseline="0" spc="-7">
                <a:solidFill>
                  <a:srgbClr val="000000"/>
                </a:solidFill>
                <a:latin typeface="Times New Roman"/>
              </a:rPr>
              <a:t>Note on the question: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plain BFS uses a FIFO queue and does not use a heuristic; a priority queue with the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Manhattan heuristic belongs to Greedy / A* search. Both are therefore shown: 2.2 BFS (FIFO queue) and 2.3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A* (priority queue ordered by f = g + h). </a:t>
            </a:r>
          </a:p>
          <a:p>
            <a:pPr marL="0" marR="0" indent="0" hangingPunct="false" algn="l">
              <a:lnSpc>
                <a:spcPts val="1390"/>
              </a:lnSpc>
              <a:spcBef>
                <a:spcPts val="1439"/>
              </a:spcBef>
              <a:spcAft>
                <a:spcPct val="0"/>
              </a:spcAft>
            </a:pPr>
            <a:r>
              <a:rPr lang="en-US" sz="1250" b="true" baseline="0" spc="1">
                <a:solidFill>
                  <a:srgbClr val="000000"/>
                </a:solidFill>
                <a:latin typeface="Times New Roman"/>
              </a:rPr>
              <a:t>2.2​BFS – step-by-step node expansion (FIFO queue)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6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 node is marked visited when it is generated, so every cell enters the queue only once. Format: cell [depth].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30250" y="958850"/>
          <a:ext cx="6121400" cy="1346200"/>
        </p:xfrm>
        <a:graphic>
          <a:graphicData uri="http://schemas.openxmlformats.org/drawingml/2006/table">
            <a:tbl>
              <a:tblPr/>
              <a:tblGrid>
                <a:gridCol w="330200"/>
                <a:gridCol w="1079500"/>
                <a:gridCol w="2362200"/>
                <a:gridCol w="23495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#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7">
                          <a:solidFill>
                            <a:srgbClr val="000000"/>
                          </a:solidFill>
                          <a:latin typeface="Times New Roman"/>
                        </a:rPr>
                        <a:t>Node expanded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7">
                          <a:solidFill>
                            <a:srgbClr val="000000"/>
                          </a:solidFill>
                          <a:latin typeface="Times New Roman"/>
                        </a:rPr>
                        <a:t>Children generated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8">
                          <a:solidFill>
                            <a:srgbClr val="000000"/>
                          </a:solidFill>
                          <a:latin typeface="Times New Roman"/>
                        </a:rPr>
                        <a:t>Queue after step (front → back)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15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(2,3) [5]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8">
                          <a:solidFill>
                            <a:srgbClr val="000000"/>
                          </a:solidFill>
                          <a:latin typeface="Times New Roman"/>
                        </a:rPr>
                        <a:t>(2,4) — (1,3), (3,3) obstacles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(1,4), (4,2), (2,4)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16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(1,4) [5]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none new — (2,4) already visited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(4,2), (2,4)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17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(4,2) [6]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(4,3)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(2,4), (4,3)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18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(2,4) [6]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(3,4)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(4,3), (3,4)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19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9">
                          <a:solidFill>
                            <a:srgbClr val="000000"/>
                          </a:solidFill>
                          <a:latin typeface="Times New Roman"/>
                        </a:rPr>
                        <a:t>(4,3) [7]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(4,4) = GOAL generated [8]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6">
                          <a:solidFill>
                            <a:srgbClr val="000000"/>
                          </a:solidFill>
                          <a:latin typeface="Times New Roman"/>
                        </a:rPr>
                        <a:t>(3,4), (4,4) → goal found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4248150"/>
          <a:ext cx="6121400" cy="2641600"/>
        </p:xfrm>
        <a:graphic>
          <a:graphicData uri="http://schemas.openxmlformats.org/drawingml/2006/table">
            <a:tbl>
              <a:tblPr/>
              <a:tblGrid>
                <a:gridCol w="330200"/>
                <a:gridCol w="1079500"/>
                <a:gridCol w="2362200"/>
                <a:gridCol w="2349500"/>
              </a:tblGrid>
              <a:tr h="469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#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Node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="true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popped </a:t>
                      </a:r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850" b="true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(lowest f)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">
                          <a:solidFill>
                            <a:srgbClr val="000000"/>
                          </a:solidFill>
                          <a:latin typeface="Times New Roman"/>
                        </a:rPr>
                        <a:t>Successors generated (g+h=f)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6">
                          <a:solidFill>
                            <a:srgbClr val="000000"/>
                          </a:solidFill>
                          <a:latin typeface="Times New Roman"/>
                        </a:rPr>
                        <a:t>Priority queue after step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(0,0) f=8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(1,0) g1+h7=8, (0,1) g1+h7=8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(1,0)=8, (0,1)=8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(1,0) f=8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(2,0) 2+6=8 [(1,1) obstacle]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(2,0)=8, (0,1)=8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(2,0) f=8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(3,0) 3+5=8 [(2,1) obstacle]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(3,0)=8, (0,1)=8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(3,0) f=8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(4,0) 4+4=8, (3,1) 4+4=8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(4,0)=8, (3,1)=8, (0,1)=8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(4,0) f=8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(4,1) 5+3=8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(4,1)=8, (3,1)=8, (0,1)=8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lang="en-US" sz="1100"/>
                    </a:p>
                  </a:txBody>
                  <a:tcPr anchor="t" marT="1193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(4,1) f=8 </a:t>
                      </a:r>
                      <a:endParaRPr lang="en-US" sz="1100"/>
                    </a:p>
                  </a:txBody>
                  <a:tcPr anchor="t" marT="1193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(4,2) 6+2=8 [(3,1) already open with better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9">
                          <a:solidFill>
                            <a:srgbClr val="000000"/>
                          </a:solidFill>
                          <a:latin typeface="Times New Roman"/>
                        </a:rPr>
                        <a:t>g=4] </a:t>
                      </a:r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(4,2)=8, (3,1)=8, (0,1)=8 </a:t>
                      </a:r>
                      <a:endParaRPr lang="en-US" sz="1100"/>
                    </a:p>
                  </a:txBody>
                  <a:tcPr anchor="t" marT="1193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7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(4,2) f=8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(4,3) 7+1=8, (3,2) 7+3=10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(4,3)=8, (3,1)=8, (0,1)=8, (3,2)=10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8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(4,3) f=8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(4,4) 8+0=8 [(3,3) obstacle]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(4,4)=8, (3,1)=8, (0,1)=8, (3,2)=10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3">
                          <a:solidFill>
                            <a:srgbClr val="000000"/>
                          </a:solidFill>
                          <a:latin typeface="Times New Roman"/>
                        </a:rPr>
                        <a:t>9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(4,4) f=8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GOAL popped from the priority queue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Stop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15010" y="2550160"/>
            <a:ext cx="5920740" cy="16167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6">
                <a:solidFill>
                  <a:srgbClr val="000000"/>
                </a:solidFill>
                <a:latin typeface="Times New Roman"/>
              </a:rPr>
              <a:t>BFS result: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19 nodes expanded. Following parent pointers back from G: </a:t>
            </a:r>
            <a:endParaRPr lang="en-US" sz="1100"/>
          </a:p>
          <a:p>
            <a:pPr marL="1019810" marR="0" indent="0" hangingPunct="false" algn="l">
              <a:lnSpc>
                <a:spcPts val="1220"/>
              </a:lnSpc>
              <a:spcBef>
                <a:spcPts val="71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(0,0) → (1,0) → (2,0) → (3,0) → (4,0) → (4,1) → (4,2) → (4,3) → (4,4)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740"/>
              </a:spcBef>
              <a:spcAft>
                <a:spcPct val="0"/>
              </a:spcAft>
            </a:pPr>
            <a:r>
              <a:rPr lang="en-US" sz="1100" b="true" baseline="0" spc="-12">
                <a:solidFill>
                  <a:srgbClr val="000000"/>
                </a:solidFill>
                <a:latin typeface="Times New Roman"/>
              </a:rPr>
              <a:t>Path length = 8 moves, total cost = 8 × 1 = 8.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BFS is optimal here because every step has the same cost, </a:t>
            </a:r>
          </a:p>
          <a:p>
            <a:pPr marL="0" marR="0" indent="0" hangingPunct="false" algn="l">
              <a:lnSpc>
                <a:spcPts val="1210"/>
              </a:lnSpc>
              <a:spcBef>
                <a:spcPts val="2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and it explores level by level so the first time G is reached is via a shortest path. </a:t>
            </a:r>
          </a:p>
          <a:p>
            <a:pPr marL="0" marR="0" indent="0" hangingPunct="false" algn="l">
              <a:lnSpc>
                <a:spcPts val="1380"/>
              </a:lnSpc>
              <a:spcBef>
                <a:spcPts val="1419"/>
              </a:spcBef>
              <a:spcAft>
                <a:spcPct val="0"/>
              </a:spcAft>
            </a:pPr>
            <a:r>
              <a:rPr lang="en-US" sz="1250" b="true" baseline="0" spc="8">
                <a:solidFill>
                  <a:srgbClr val="000000"/>
                </a:solidFill>
                <a:latin typeface="Times New Roman"/>
              </a:rPr>
              <a:t>2.3​A* with Manhattan heuristic – priority queue updates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66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Priority = f(n) = g(n) + h(n). Ties are broken by the smaller h (closer to goal), then by insertion order.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Format: cell(g+h=f). 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5010" y="7118350"/>
            <a:ext cx="5932170" cy="3403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aseline="0" spc="-27">
                <a:solidFill>
                  <a:srgbClr val="000000"/>
                </a:solidFill>
                <a:latin typeface="Times New Roman"/>
              </a:rPr>
              <a:t>A* expands only 9 nodes (against 19 for BFS) and returns the same path and cost, because the Manhattan </a:t>
            </a:r>
            <a:endParaRPr lang="en-US" sz="1100"/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heuristic keeps f = 8 along the whole solution path – the heuristic is exact here.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520950" y="3308350"/>
          <a:ext cx="2514600" cy="1955800"/>
        </p:xfrm>
        <a:graphic>
          <a:graphicData uri="http://schemas.openxmlformats.org/drawingml/2006/table">
            <a:tbl>
              <a:tblPr/>
              <a:tblGrid>
                <a:gridCol w="495300"/>
                <a:gridCol w="508000"/>
                <a:gridCol w="508000"/>
                <a:gridCol w="508000"/>
                <a:gridCol w="495300"/>
              </a:tblGrid>
              <a:tr h="393700">
                <a:tc>
                  <a:txBody>
                    <a:bodyPr anchor="t" rtlCol="false" anchorCtr="false" wrap="none"/>
                    <a:lstStyle/>
                    <a:p>
                      <a:pPr algn="l" marL="21844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="true" baseline="0" spc="4">
                          <a:solidFill>
                            <a:srgbClr val="000000"/>
                          </a:solidFill>
                          <a:latin typeface="Times New Roman"/>
                        </a:rPr>
                        <a:t>S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E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9779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(0,1)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(0,2)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478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(0,3)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(0,4)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(1,0) </a:t>
                      </a:r>
                      <a:endParaRPr lang="en-US" sz="1100"/>
                    </a:p>
                  </a:txBody>
                  <a:tcPr anchor="t" marT="1333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11938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(1,2) </a:t>
                      </a:r>
                      <a:endParaRPr lang="en-US" sz="1100"/>
                    </a:p>
                  </a:txBody>
                  <a:tcPr anchor="t" marT="1333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63830" marR="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320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(1,4) </a:t>
                      </a:r>
                      <a:endParaRPr lang="en-US" sz="1100"/>
                    </a:p>
                  </a:txBody>
                  <a:tcPr anchor="t" marT="1333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(2,0) </a:t>
                      </a:r>
                      <a:endParaRPr lang="en-US" sz="1100"/>
                    </a:p>
                  </a:txBody>
                  <a:tcPr anchor="t" marT="1295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11938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295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(2,2) </a:t>
                      </a:r>
                      <a:endParaRPr lang="en-US" sz="1100"/>
                    </a:p>
                  </a:txBody>
                  <a:tcPr anchor="t" marT="1295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478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(2,3) </a:t>
                      </a:r>
                      <a:endParaRPr lang="en-US" sz="1100"/>
                    </a:p>
                  </a:txBody>
                  <a:tcPr anchor="t" marT="1295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(2,4) </a:t>
                      </a:r>
                      <a:endParaRPr lang="en-US" sz="1100"/>
                    </a:p>
                  </a:txBody>
                  <a:tcPr anchor="t" marT="1295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(3,0)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9779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(3,1)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(3,2)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63830" marR="0" indent="0" hangingPunct="false">
                        <a:lnSpc>
                          <a:spcPts val="10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22">
                          <a:solidFill>
                            <a:srgbClr val="000000"/>
                          </a:solidFill>
                          <a:ea typeface="Arial"/>
                        </a:rPr>
                        <a:t>■​</a:t>
                      </a:r>
                      <a:r>
                        <a:rPr lang="en-US" sz="800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X </a:t>
                      </a:r>
                      <a:endParaRPr lang="en-US" sz="1100"/>
                    </a:p>
                  </a:txBody>
                  <a:tcPr anchor="t" marT="1257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(3,4) </a:t>
                      </a:r>
                      <a:endParaRPr lang="en-US" sz="1100"/>
                    </a:p>
                  </a:txBody>
                  <a:tcPr anchor="t" marT="1270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 anchorCtr="false" wrap="none"/>
                    <a:lstStyle/>
                    <a:p>
                      <a:pPr algn="l" marL="14097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(4,0)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9779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(4,1)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732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3">
                          <a:solidFill>
                            <a:srgbClr val="000000"/>
                          </a:solidFill>
                          <a:latin typeface="Times New Roman"/>
                        </a:rPr>
                        <a:t>(4,2)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14478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aseline="0" spc="-4">
                          <a:solidFill>
                            <a:srgbClr val="000000"/>
                          </a:solidFill>
                          <a:latin typeface="Times New Roman"/>
                        </a:rPr>
                        <a:t>(4,3)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5EC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205740" marR="0" indent="0" hangingPunct="false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00" b="true" baseline="0" spc="-22">
                          <a:solidFill>
                            <a:srgbClr val="000000"/>
                          </a:solidFill>
                          <a:latin typeface="Times New Roman"/>
                        </a:rPr>
                        <a:t>G </a:t>
                      </a:r>
                      <a:endParaRPr lang="en-US" sz="1100"/>
                    </a:p>
                  </a:txBody>
                  <a:tcPr anchor="t" marT="1358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5492750"/>
          <a:ext cx="6108700" cy="1117600"/>
        </p:xfrm>
        <a:graphic>
          <a:graphicData uri="http://schemas.openxmlformats.org/drawingml/2006/table">
            <a:tbl>
              <a:tblPr/>
              <a:tblGrid>
                <a:gridCol w="1638300"/>
                <a:gridCol w="44704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4">
                          <a:solidFill>
                            <a:srgbClr val="000000"/>
                          </a:solidFill>
                          <a:latin typeface="Times New Roman"/>
                        </a:rPr>
                        <a:t>Item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Value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Optimal path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23">
                          <a:solidFill>
                            <a:srgbClr val="000000"/>
                          </a:solidFill>
                          <a:latin typeface="Times New Roman"/>
                        </a:rPr>
                        <a:t>(0,0) → (1,0) → (2,0) → (3,0) → (4,0) → (4,1) → (4,2) → (4,3) → (4,4)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Moves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Down, Down, Down, Down, Right, Right, Right, Right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Optimal cost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8 (equals the Manhattan lower bound, so no cheaper path exists)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Alternative equal-cost path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13">
                          <a:solidFill>
                            <a:srgbClr val="000000"/>
                          </a:solidFill>
                          <a:latin typeface="Times New Roman"/>
                        </a:rPr>
                        <a:t>(0,0) → (0,1) → (0,2) → (1,2) → (2,2) → (2,3) → (2,4) → (3,4) → (4,4), also cost 8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30250" y="6838950"/>
          <a:ext cx="6121400" cy="1117600"/>
        </p:xfrm>
        <a:graphic>
          <a:graphicData uri="http://schemas.openxmlformats.org/drawingml/2006/table">
            <a:tbl>
              <a:tblPr/>
              <a:tblGrid>
                <a:gridCol w="1638300"/>
                <a:gridCol w="2247900"/>
                <a:gridCol w="22352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6">
                          <a:solidFill>
                            <a:srgbClr val="000000"/>
                          </a:solidFill>
                          <a:latin typeface="Times New Roman"/>
                        </a:rPr>
                        <a:t>Property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BFS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5">
                          <a:solidFill>
                            <a:srgbClr val="000000"/>
                          </a:solidFill>
                          <a:latin typeface="Times New Roman"/>
                        </a:rPr>
                        <a:t>A* (Manhattan)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Frontier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FIFO queue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Priority queue on f = g + h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Nodes expanded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19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">
                          <a:solidFill>
                            <a:srgbClr val="000000"/>
                          </a:solidFill>
                          <a:latin typeface="Times New Roman"/>
                        </a:rPr>
                        <a:t>9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Path cost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8 (optimal)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8 (optimal)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Complete / Optimal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Yes / Yes (unit costs)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Yes / Yes (admissible, consistent h)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15010" y="3059430"/>
            <a:ext cx="1790700" cy="1765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="true" baseline="0" spc="11">
                <a:solidFill>
                  <a:srgbClr val="000000"/>
                </a:solidFill>
                <a:latin typeface="Times New Roman"/>
              </a:rPr>
              <a:t>2.4​Optimal path and cost 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2893060" y="5280660"/>
            <a:ext cx="180340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i="true" baseline="0" spc="-22">
                <a:solidFill>
                  <a:srgbClr val="000000"/>
                </a:solidFill>
                <a:latin typeface="Times New Roman"/>
              </a:rPr>
              <a:t>Cells shaded blue form the path found. 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695960" y="955040"/>
            <a:ext cx="6163310" cy="10160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1339850"/>
          <a:ext cx="6121400" cy="3098800"/>
        </p:xfrm>
        <a:graphic>
          <a:graphicData uri="http://schemas.openxmlformats.org/drawingml/2006/table">
            <a:tbl>
              <a:tblPr/>
              <a:tblGrid>
                <a:gridCol w="2095500"/>
                <a:gridCol w="40259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2">
                          <a:solidFill>
                            <a:srgbClr val="000000"/>
                          </a:solidFill>
                          <a:latin typeface="Times New Roman"/>
                        </a:rPr>
                        <a:t>Constraint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2">
                          <a:solidFill>
                            <a:srgbClr val="000000"/>
                          </a:solidFill>
                          <a:latin typeface="Times New Roman"/>
                        </a:rPr>
                        <a:t>Effect on the robot’s decisions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635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 environment; </a:t>
                      </a:r>
                      <a:endParaRPr lang="en-US" sz="1100"/>
                    </a:p>
                    <a:p>
                      <a:pPr marL="5461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13">
                          <a:solidFill>
                            <a:srgbClr val="000000"/>
                          </a:solidFill>
                          <a:latin typeface="Times New Roman"/>
                        </a:rPr>
                        <a:t>sensing only adjacent cells </a:t>
                      </a:r>
                    </a:p>
                  </a:txBody>
                  <a:tcPr anchor="t" marT="1879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The robot cannot compute a full plan in advance. It must keep an internal map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6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(belief state) of what it has seen, treat unseen cells as unknown, and decide using </a:t>
                      </a:r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incomplete information. This makes the problem an online search / exploration </a:t>
                      </a:r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problem. </a:t>
                      </a:r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Moves: Up, Down, Left, Right </a:t>
                      </a:r>
                      <a:endParaRPr lang="en-US" sz="1100"/>
                    </a:p>
                  </a:txBody>
                  <a:tcPr anchor="t" marT="1206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Defines the action set (branching factor ≤ 4) and a discrete 4-connected state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space. The Manhattan distance to G is a usable, admissible heuristic.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08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0">
                          <a:solidFill>
                            <a:srgbClr val="000000"/>
                          </a:solidFill>
                          <a:latin typeface="Times New Roman"/>
                        </a:rPr>
                        <a:t>Blocked cells (obstacles) </a:t>
                      </a:r>
                      <a:endParaRPr lang="en-US" sz="1100"/>
                    </a:p>
                  </a:txBody>
                  <a:tcPr anchor="t" marT="1841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Remove actions from the state space. Newly sensed obstacles invalidate the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current plan, so the robot must be able to re-plan and sometimes backtrack from </a:t>
                      </a:r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dead ends.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Move cost = 1; entering a risky zone </a:t>
                      </a:r>
                      <a:endParaRPr lang="en-US" sz="1100"/>
                    </a:p>
                    <a:p>
                      <a:pPr marL="5461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costs 1 + 2 = 3 </a:t>
                      </a:r>
                    </a:p>
                  </a:txBody>
                  <a:tcPr anchor="t" marT="1130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Path cost is no longer the number of steps, so BFS is unsuitable. The robot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6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compares cost, not length: a risky cell costs as much as three normal steps, so it </a:t>
                      </a:r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is used only when a detour costs more. </a:t>
                      </a:r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080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Minimise total cost with safe navigation </a:t>
                      </a:r>
                      <a:endParaRPr lang="en-US" sz="1100"/>
                    </a:p>
                  </a:txBody>
                  <a:tcPr anchor="t" marT="1905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Gives an optimisation objective (least-cost path) plus a safety preference. Safety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is built into the cost function: risky cells are penalised heavily, and cells known </a:t>
                      </a:r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to be blocked are never entered.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Dynamic knowledge update (online </a:t>
                      </a:r>
                      <a:endParaRPr lang="en-US" sz="1100"/>
                    </a:p>
                    <a:p>
                      <a:pPr marL="54610" marR="0" indent="0" hangingPunct="false" algn="l">
                        <a:lnSpc>
                          <a:spcPts val="106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search) </a:t>
                      </a:r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Planning and acting are interleaved: sense → update map → plan → act one step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6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→ repeat. The agent needs memory (map, costs) and a policy for unknown cells. </a:t>
                      </a:r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30250" y="6673850"/>
          <a:ext cx="6108700" cy="1257300"/>
        </p:xfrm>
        <a:graphic>
          <a:graphicData uri="http://schemas.openxmlformats.org/drawingml/2006/table">
            <a:tbl>
              <a:tblPr/>
              <a:tblGrid>
                <a:gridCol w="3162300"/>
                <a:gridCol w="29464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6">
                          <a:solidFill>
                            <a:srgbClr val="000000"/>
                          </a:solidFill>
                          <a:latin typeface="Times New Roman"/>
                        </a:rPr>
                        <a:t>Cell entered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9">
                          <a:solidFill>
                            <a:srgbClr val="000000"/>
                          </a:solidFill>
                          <a:latin typeface="Times New Roman"/>
                        </a:rPr>
                        <a:t>Cost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Normal free cell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Risky zone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1 + 2 = 3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Blocked cell (known obstacle)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∞ (not allowed)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Unknown cell </a:t>
                      </a:r>
                      <a:endParaRPr lang="en-US" sz="1100"/>
                    </a:p>
                  </a:txBody>
                  <a:tcPr anchor="t" marT="1092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Assumed free (cost 1), corrected when sensed –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6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"free-space assumption" </a:t>
                      </a:r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>
            <a:off x="715010" y="716280"/>
            <a:ext cx="5044440" cy="5461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6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00" b="true" baseline="0" spc="-7">
                <a:solidFill>
                  <a:srgbClr val="000000"/>
                </a:solidFill>
                <a:latin typeface="Times New Roman"/>
              </a:rPr>
              <a:t>Question 3: Autonomous Rescue Robot in a Disaster Building </a:t>
            </a:r>
            <a:endParaRPr lang="en-US" sz="1100"/>
          </a:p>
          <a:p>
            <a:pPr marL="0" marR="0" indent="0" hangingPunct="false" algn="l">
              <a:lnSpc>
                <a:spcPts val="1390"/>
              </a:lnSpc>
              <a:spcBef>
                <a:spcPts val="1250"/>
              </a:spcBef>
              <a:spcAft>
                <a:spcPct val="0"/>
              </a:spcAft>
            </a:pPr>
            <a:r>
              <a:rPr lang="en-US" sz="1250" b="true" baseline="0" spc="5">
                <a:solidFill>
                  <a:srgbClr val="000000"/>
                </a:solidFill>
                <a:latin typeface="Times New Roman"/>
              </a:rPr>
              <a:t>a)​Analysis of the constraints and their effect on decision making 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5010" y="4664710"/>
            <a:ext cx="6068060" cy="19227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1">
                <a:solidFill>
                  <a:srgbClr val="000000"/>
                </a:solidFill>
                <a:latin typeface="Times New Roman"/>
              </a:rPr>
              <a:t>Priority of the constraints (most to least binding):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(1) obstacles / safety – hard constraints that can never </a:t>
            </a:r>
            <a:endParaRPr lang="en-US" sz="1100"/>
          </a:p>
          <a:p>
            <a:pPr marL="0" marR="0" indent="0" hangingPunct="false" algn="l">
              <a:lnSpc>
                <a:spcPts val="121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be violated; (2) partial observability – shapes the type of algorithm; (3) cost minimisation with the risk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penalty – decides between feasible paths; (4) move set – defines the neighbourhood. Hard constraints are </a:t>
            </a:r>
          </a:p>
          <a:p>
            <a:pPr marL="0" marR="0" indent="0" hangingPunct="false" algn="l">
              <a:lnSpc>
                <a:spcPts val="121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filtered first, then the cheapest feasible option is chosen. </a:t>
            </a:r>
          </a:p>
          <a:p>
            <a:pPr marL="0" marR="0" indent="0" hangingPunct="false" algn="l">
              <a:lnSpc>
                <a:spcPts val="1390"/>
              </a:lnSpc>
              <a:spcBef>
                <a:spcPts val="1439"/>
              </a:spcBef>
              <a:spcAft>
                <a:spcPct val="0"/>
              </a:spcAft>
            </a:pPr>
            <a:r>
              <a:rPr lang="en-US" sz="1250" b="true" baseline="0" spc="2">
                <a:solidFill>
                  <a:srgbClr val="000000"/>
                </a:solidFill>
                <a:latin typeface="Times New Roman"/>
              </a:rPr>
              <a:t>b)​Solution approach: Online Uniform-Cost / A* Search Agent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650"/>
              </a:spcBef>
              <a:spcAft>
                <a:spcPct val="0"/>
              </a:spcAft>
            </a:pPr>
            <a:r>
              <a:rPr lang="en-US" sz="1100" b="true" baseline="0" spc="6">
                <a:solidFill>
                  <a:srgbClr val="000000"/>
                </a:solidFill>
                <a:latin typeface="Times New Roman"/>
              </a:rPr>
              <a:t>Chosen strategy: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an online search agent that repeatedly runs Uniform Cost Search (or A* with the </a:t>
            </a:r>
          </a:p>
          <a:p>
            <a:pPr marL="0" marR="0" indent="0" hangingPunct="false" algn="l">
              <a:lnSpc>
                <a:spcPts val="121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Manhattan heuristic, which is UCS guided toward G) on its current known map, executes only the first step,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senses, and re-plans. This is similar in spirit to D* Lite / online A*. </a:t>
            </a:r>
          </a:p>
          <a:p>
            <a:pPr marL="0" marR="0" indent="0" hangingPunct="false" algn="l">
              <a:lnSpc>
                <a:spcPts val="1210"/>
              </a:lnSpc>
              <a:spcBef>
                <a:spcPts val="740"/>
              </a:spcBef>
              <a:spcAft>
                <a:spcPct val="0"/>
              </a:spcAft>
            </a:pPr>
            <a:r>
              <a:rPr lang="en-US" sz="1100" b="true" baseline="0" spc="0">
                <a:solidFill>
                  <a:srgbClr val="000000"/>
                </a:solidFill>
                <a:latin typeface="Times New Roman"/>
              </a:rPr>
              <a:t>Step cost function: 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15010" y="8161020"/>
            <a:ext cx="6148071" cy="16268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3">
                <a:solidFill>
                  <a:srgbClr val="000000"/>
                </a:solidFill>
                <a:latin typeface="Times New Roman"/>
              </a:rPr>
              <a:t>Steps of the algorithm: </a:t>
            </a:r>
            <a:endParaRPr lang="en-US" sz="1100"/>
          </a:p>
          <a:p>
            <a:pPr marL="114300" marR="0" indent="0" hangingPunct="false" algn="l">
              <a:lnSpc>
                <a:spcPts val="1220"/>
              </a:lnSpc>
              <a:spcBef>
                <a:spcPts val="740"/>
              </a:spcBef>
              <a:spcAft>
                <a:spcPct val="0"/>
              </a:spcAft>
            </a:pPr>
            <a:r>
              <a:rPr lang="en-US" sz="1100" baseline="0" spc="27">
                <a:solidFill>
                  <a:srgbClr val="000000"/>
                </a:solidFill>
                <a:latin typeface="Times New Roman"/>
              </a:rPr>
              <a:t>1.​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Initialise: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current cell = S, known map = {S}, visited set empty, total cost = 0. </a:t>
            </a:r>
          </a:p>
          <a:p>
            <a:pPr marL="11430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 spc="27">
                <a:solidFill>
                  <a:srgbClr val="000000"/>
                </a:solidFill>
                <a:latin typeface="Times New Roman"/>
              </a:rPr>
              <a:t>2.​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Sense: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read the four adjacent cells and classify each as free, blocked or risky; add them to the known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map. </a:t>
            </a:r>
          </a:p>
          <a:p>
            <a:pPr marL="11430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 spc="27">
                <a:solidFill>
                  <a:srgbClr val="000000"/>
                </a:solidFill>
                <a:latin typeface="Times New Roman"/>
              </a:rPr>
              <a:t>3.​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Update knowledge: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if a cell on the current plan is now known to be blocked, discard the plan. </a:t>
            </a:r>
          </a:p>
          <a:p>
            <a:pPr marL="114300" marR="0" indent="0" hangingPunct="false" algn="l">
              <a:lnSpc>
                <a:spcPts val="1220"/>
              </a:lnSpc>
              <a:spcBef>
                <a:spcPts val="540"/>
              </a:spcBef>
              <a:spcAft>
                <a:spcPct val="0"/>
              </a:spcAft>
            </a:pPr>
            <a:r>
              <a:rPr lang="en-US" sz="1100" baseline="0" spc="27">
                <a:solidFill>
                  <a:srgbClr val="000000"/>
                </a:solidFill>
                <a:latin typeface="Times New Roman"/>
              </a:rPr>
              <a:t>4.​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Plan: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run UCS / A* from the current cell to G over the known map using g(n) = accumulated cost (1 </a:t>
            </a:r>
          </a:p>
          <a:p>
            <a:pPr marL="342900" marR="0" indent="0" hangingPunct="false" algn="l">
              <a:lnSpc>
                <a:spcPts val="121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per move, +2 for a risky cell), with f(n) = g(n) + h(n), h = Manhattan distance to G (admissible because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every step costs at least 1).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30580" y="2178050"/>
            <a:ext cx="6028690" cy="1800860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6178550"/>
          <a:ext cx="6121400" cy="1397000"/>
        </p:xfrm>
        <a:graphic>
          <a:graphicData uri="http://schemas.openxmlformats.org/drawingml/2006/table">
            <a:tbl>
              <a:tblPr/>
              <a:tblGrid>
                <a:gridCol w="1778000"/>
                <a:gridCol w="43434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PEAS element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6">
                          <a:solidFill>
                            <a:srgbClr val="000000"/>
                          </a:solidFill>
                          <a:latin typeface="Times New Roman"/>
                        </a:rPr>
                        <a:t>Rescue robot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Performance measure </a:t>
                      </a:r>
                      <a:endParaRPr lang="en-US" sz="1100"/>
                    </a:p>
                  </a:txBody>
                  <a:tcPr anchor="t" marT="1092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Reach G (survivor found); minimise total path cost (moves + risk penalties); avoid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blocked / dangerous cells; minimise time </a:t>
                      </a:r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Environment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Grid of rooms in a damaged building with obstacles and risky zones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Actuators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Wheels / motors for Up, Down, Left, Right movement; rescue mechanism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Sensors </a:t>
                      </a:r>
                      <a:endParaRPr lang="en-US" sz="1100"/>
                    </a:p>
                  </a:txBody>
                  <a:tcPr anchor="t" marT="1193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842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Proximity / obstacle sensors, camera or thermal sensor covering the 4 adjacent cells; </a:t>
                      </a:r>
                      <a:endParaRPr lang="en-US" sz="1100"/>
                    </a:p>
                    <a:p>
                      <a:pPr marL="58420" marR="0" indent="0" hangingPunct="false" algn="l">
                        <a:lnSpc>
                          <a:spcPts val="106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position (odometry) </a:t>
                      </a:r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>
            <a:off x="715010" y="713740"/>
            <a:ext cx="6134100" cy="53721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11430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aseline="0" spc="27">
                <a:solidFill>
                  <a:srgbClr val="000000"/>
                </a:solidFill>
                <a:latin typeface="Times New Roman"/>
              </a:rPr>
              <a:t>5.​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Act: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execute only the first move of the cheapest path and add its cost to the total. </a:t>
            </a:r>
            <a:endParaRPr lang="en-US" sz="1100"/>
          </a:p>
          <a:p>
            <a:pPr marL="114300" marR="0" indent="0" hangingPunct="false" algn="l">
              <a:lnSpc>
                <a:spcPts val="1210"/>
              </a:lnSpc>
              <a:spcBef>
                <a:spcPts val="550"/>
              </a:spcBef>
              <a:spcAft>
                <a:spcPct val="0"/>
              </a:spcAft>
            </a:pPr>
            <a:r>
              <a:rPr lang="en-US" sz="1100" baseline="0" spc="27">
                <a:solidFill>
                  <a:srgbClr val="000000"/>
                </a:solidFill>
                <a:latin typeface="Times New Roman"/>
              </a:rPr>
              <a:t>6.​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Dead ends: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if no path exists in the known map, move to the nearest frontier (unexplored) cell and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explore; if the robot is boxed in, backtrack to the last cell that had an unexplored neighbour (as in </a:t>
            </a:r>
          </a:p>
          <a:p>
            <a:pPr marL="342900" marR="0" indent="0" hangingPunct="false" algn="l">
              <a:lnSpc>
                <a:spcPts val="121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LRTA* / online DFS). </a:t>
            </a:r>
          </a:p>
          <a:p>
            <a:pPr marL="114300" marR="0" indent="0" hangingPunct="false" algn="l">
              <a:lnSpc>
                <a:spcPts val="1210"/>
              </a:lnSpc>
              <a:spcBef>
                <a:spcPts val="540"/>
              </a:spcBef>
              <a:spcAft>
                <a:spcPct val="0"/>
              </a:spcAft>
            </a:pPr>
            <a:r>
              <a:rPr lang="en-US" sz="1100" baseline="0" spc="27">
                <a:solidFill>
                  <a:srgbClr val="000000"/>
                </a:solidFill>
                <a:latin typeface="Times New Roman"/>
              </a:rPr>
              <a:t>7.​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Repeat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Sense → Update → Plan → Act until the current cell is G (survivor reached). Return the path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travelled and the total cost.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="true" baseline="0" spc="0">
                <a:solidFill>
                  <a:srgbClr val="000000"/>
                </a:solidFill>
                <a:latin typeface="Times New Roman"/>
              </a:rPr>
              <a:t>Pseudocode: </a:t>
            </a:r>
          </a:p>
          <a:p>
            <a:pPr marL="0" marR="0" indent="0" hangingPunct="false" algn="l">
              <a:lnSpc>
                <a:spcPts val="1210"/>
              </a:lnSpc>
              <a:spcBef>
                <a:spcPts val="16239"/>
              </a:spcBef>
              <a:spcAft>
                <a:spcPct val="0"/>
              </a:spcAft>
            </a:pPr>
            <a:r>
              <a:rPr lang="en-US" sz="1100" b="true" baseline="0" spc="7">
                <a:solidFill>
                  <a:srgbClr val="000000"/>
                </a:solidFill>
                <a:latin typeface="Times New Roman"/>
              </a:rPr>
              <a:t>Small illustration: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if the cell directly toward G turns out to be risky (cost 3) and a safe route needs two extra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moves (extra cost 2), the robot compares total costs after sensing and picks the cheaper, i.e. it takes the safe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route unless the safe route costs more than the risk penalty. If a corridor is sensed to be blocked, the robot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marks it, re-plans and moves via the next cheapest known route. </a:t>
            </a:r>
          </a:p>
          <a:p>
            <a:pPr marL="0" marR="0" indent="0" hangingPunct="false" algn="l">
              <a:lnSpc>
                <a:spcPts val="1380"/>
              </a:lnSpc>
              <a:spcBef>
                <a:spcPts val="1419"/>
              </a:spcBef>
              <a:spcAft>
                <a:spcPct val="0"/>
              </a:spcAft>
            </a:pPr>
            <a:r>
              <a:rPr lang="en-US" sz="1250" b="true" baseline="0" spc="2">
                <a:solidFill>
                  <a:srgbClr val="000000"/>
                </a:solidFill>
                <a:latin typeface="Times New Roman"/>
              </a:rPr>
              <a:t>c)​Application of AI concepts </a:t>
            </a:r>
          </a:p>
          <a:p>
            <a:pPr marL="0" marR="0" indent="0" hangingPunct="false" algn="l">
              <a:lnSpc>
                <a:spcPts val="1270"/>
              </a:lnSpc>
              <a:spcBef>
                <a:spcPts val="980"/>
              </a:spcBef>
              <a:spcAft>
                <a:spcPct val="0"/>
              </a:spcAft>
            </a:pPr>
            <a:r>
              <a:rPr lang="en-US" sz="1150" b="true" baseline="0" spc="28">
                <a:solidFill>
                  <a:srgbClr val="000000"/>
                </a:solidFill>
                <a:latin typeface="Times New Roman"/>
              </a:rPr>
              <a:t>(i)​Intelligent agent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4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An agent perceives its environment through sensors and acts on it through actuators. The rescue robot is a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="true" baseline="0" spc="0">
                <a:solidFill>
                  <a:srgbClr val="000000"/>
                </a:solidFill>
                <a:latin typeface="Times New Roman"/>
              </a:rPr>
              <a:t>goal-based and utility-based agent with a model (map) of the world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: it maintains internal state, has a goal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(reach survivor at G) and a utility measure (lowest cost, avoid risk). 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5010" y="7800340"/>
            <a:ext cx="5976621" cy="18821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6">
                <a:solidFill>
                  <a:srgbClr val="000000"/>
                </a:solidFill>
                <a:latin typeface="Times New Roman"/>
              </a:rPr>
              <a:t>Percept-action cycle: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percept (adjacent cells) → update internal map → decide the best next move by </a:t>
            </a:r>
            <a:endParaRPr lang="en-US" sz="1100"/>
          </a:p>
          <a:p>
            <a:pPr marL="0" marR="0" indent="0" hangingPunct="false" algn="l">
              <a:lnSpc>
                <a:spcPts val="1220"/>
              </a:lnSpc>
              <a:spcBef>
                <a:spcPts val="250"/>
              </a:spcBef>
              <a:spcAft>
                <a:spcPct val="0"/>
              </a:spcAft>
            </a:pPr>
            <a:r>
              <a:rPr lang="en-US" sz="1100" baseline="0" spc="-8">
                <a:solidFill>
                  <a:srgbClr val="000000"/>
                </a:solidFill>
                <a:latin typeface="Times New Roman"/>
              </a:rPr>
              <a:t>search → action (move one cell) → new percept.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150" b="true" baseline="0" spc="14">
                <a:solidFill>
                  <a:srgbClr val="000000"/>
                </a:solidFill>
                <a:latin typeface="Times New Roman"/>
              </a:rPr>
              <a:t>(ii)​Rationality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4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 rational agent selects, for every percept sequence, the action expected to maximise its performance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measure given its built-in knowledge. The robot is rational because: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71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•​ it uses all percepts collected so far (the updated map) and never repeats an invalid action such as </a:t>
            </a:r>
          </a:p>
          <a:p>
            <a:pPr marL="342900" marR="0" indent="0" hangingPunct="false" algn="l">
              <a:lnSpc>
                <a:spcPts val="1210"/>
              </a:lnSpc>
              <a:spcBef>
                <a:spcPts val="2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walking into a known obstacle; </a:t>
            </a:r>
          </a:p>
          <a:p>
            <a:pPr marL="171450" marR="0" indent="0" hangingPunct="false" algn="l">
              <a:lnSpc>
                <a:spcPts val="1210"/>
              </a:lnSpc>
              <a:spcBef>
                <a:spcPts val="5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•​ it picks the move on the cheapest known path to G, trading off distance against the risk penalty, so it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maximises the performance measure with the information available;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30250" y="1822450"/>
          <a:ext cx="6108700" cy="2476500"/>
        </p:xfrm>
        <a:graphic>
          <a:graphicData uri="http://schemas.openxmlformats.org/drawingml/2006/table">
            <a:tbl>
              <a:tblPr/>
              <a:tblGrid>
                <a:gridCol w="1524000"/>
                <a:gridCol w="1638300"/>
                <a:gridCol w="29464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6">
                          <a:solidFill>
                            <a:srgbClr val="000000"/>
                          </a:solidFill>
                          <a:latin typeface="Times New Roman"/>
                        </a:rPr>
                        <a:t>Property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Classification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-12">
                          <a:solidFill>
                            <a:srgbClr val="000000"/>
                          </a:solidFill>
                          <a:latin typeface="Times New Roman"/>
                        </a:rPr>
                        <a:t>Reason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Observability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11">
                          <a:solidFill>
                            <a:srgbClr val="000000"/>
                          </a:solidFill>
                          <a:latin typeface="Times New Roman"/>
                        </a:rPr>
                        <a:t>Sees only adjacent cells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Agents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Single agent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Only one robot; survivors and debris are not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5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decision-making agents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Determinism </a:t>
                      </a:r>
                      <a:endParaRPr lang="en-US" sz="1100"/>
                    </a:p>
                  </a:txBody>
                  <a:tcPr anchor="t" marT="1206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Deterministic (assumed) </a:t>
                      </a:r>
                      <a:endParaRPr lang="en-US" sz="1100"/>
                    </a:p>
                  </a:txBody>
                  <a:tcPr anchor="t" marT="1206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A move leads to the intended neighbour; it becomes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14">
                          <a:solidFill>
                            <a:srgbClr val="000000"/>
                          </a:solidFill>
                          <a:latin typeface="Times New Roman"/>
                        </a:rPr>
                        <a:t>stochastic if wheels slip or debris shifts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Episodic / sequential </a:t>
                      </a:r>
                      <a:endParaRPr lang="en-US" sz="1100"/>
                    </a:p>
                  </a:txBody>
                  <a:tcPr anchor="t" marT="1143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Sequential </a:t>
                      </a:r>
                      <a:endParaRPr lang="en-US" sz="1100"/>
                    </a:p>
                  </a:txBody>
                  <a:tcPr anchor="t" marT="1143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Each move changes the position and affects all future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costs and choices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Static / dynamic </a:t>
                      </a:r>
                      <a:endParaRPr lang="en-US" sz="1100"/>
                    </a:p>
                  </a:txBody>
                  <a:tcPr anchor="t" marT="1219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Static (assumed) / </a:t>
                      </a:r>
                      <a:endParaRPr lang="en-US" sz="1100"/>
                    </a:p>
                    <a:p>
                      <a:pPr marL="5588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semi-dynamic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Layout is assumed fixed while planning, but aftershocks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5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can change it; hence re-planning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Discrete / continuous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Discrete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Grid cells, four fixed actions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Known / unknown </a:t>
                      </a:r>
                      <a:endParaRPr lang="en-US" sz="1100"/>
                    </a:p>
                  </a:txBody>
                  <a:tcPr anchor="t" marT="1181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5588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Partly unknown </a:t>
                      </a:r>
                      <a:endParaRPr lang="en-US" sz="1100"/>
                    </a:p>
                  </a:txBody>
                  <a:tcPr anchor="t" marT="1181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The map is not known in advance and is learned while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60"/>
                        </a:lnSpc>
                        <a:spcBef>
                          <a:spcPts val="4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moving </a:t>
                      </a:r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30250" y="7194550"/>
          <a:ext cx="6108700" cy="1612900"/>
        </p:xfrm>
        <a:graphic>
          <a:graphicData uri="http://schemas.openxmlformats.org/drawingml/2006/table">
            <a:tbl>
              <a:tblPr/>
              <a:tblGrid>
                <a:gridCol w="2019300"/>
                <a:gridCol w="40894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7">
                          <a:solidFill>
                            <a:srgbClr val="000000"/>
                          </a:solidFill>
                          <a:latin typeface="Times New Roman"/>
                        </a:rPr>
                        <a:t>Strategy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="true" baseline="0" spc="0">
                          <a:solidFill>
                            <a:srgbClr val="000000"/>
                          </a:solidFill>
                          <a:latin typeface="Times New Roman"/>
                        </a:rPr>
                        <a:t>Limitation for this problem </a:t>
                      </a:r>
                      <a:endParaRPr lang="en-US" sz="1100"/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2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BFS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Ignores step costs and risk; optimal only when all costs are equal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DFS / Depth-limited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Not optimal, may wander through risky zones and waste cost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Greedy best-first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Ignores cost already incurred; not optimal and can enter risky cells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Offline A* / UCS alone </a:t>
                      </a:r>
                      <a:endParaRPr lang="en-US" sz="1100"/>
                    </a:p>
                  </a:txBody>
                  <a:tcPr anchor="t" marT="1155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Needs the complete map beforehand, which a partially observable environment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5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does not provide </a:t>
                      </a:r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42900">
                <a:tc>
                  <a:txBody>
                    <a:bodyPr anchor="t" rtlCol="false" anchorCtr="false" wrap="none"/>
                    <a:lstStyle/>
                    <a:p>
                      <a:pPr algn="l" marL="5461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Online agent with UCS / A* (chosen) </a:t>
                      </a:r>
                      <a:endParaRPr lang="en-US" sz="1100"/>
                    </a:p>
                  </a:txBody>
                  <a:tcPr anchor="t" marT="1104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64770" marR="0" indent="0" hangingPunct="false">
                        <a:lnSpc>
                          <a:spcPts val="10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Handles unknown map, risk costs, and re-planning; optimal with respect to </a:t>
                      </a:r>
                      <a:endParaRPr lang="en-US" sz="1100"/>
                    </a:p>
                    <a:p>
                      <a:pPr marL="64770" marR="0" indent="0" hangingPunct="false" algn="l">
                        <a:lnSpc>
                          <a:spcPts val="105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</a:pPr>
                      <a:r>
                        <a:rPr lang="en-US" sz="850" baseline="0" spc="-23">
                          <a:solidFill>
                            <a:srgbClr val="000000"/>
                          </a:solidFill>
                          <a:latin typeface="Times New Roman"/>
                        </a:rPr>
                        <a:t>current knowledge </a:t>
                      </a:r>
                    </a:p>
                  </a:txBody>
                  <a:tcPr anchor="t" marT="406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D9"/>
                    </a:solidFill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15010" y="713740"/>
            <a:ext cx="5960110" cy="10541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17145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aseline="0" spc="-15">
                <a:solidFill>
                  <a:srgbClr val="000000"/>
                </a:solidFill>
                <a:latin typeface="Times New Roman"/>
              </a:rPr>
              <a:t>•​ it explores unknown cells only when necessary (information gathering), and it learns from new </a:t>
            </a:r>
            <a:endParaRPr lang="en-US" sz="1100"/>
          </a:p>
          <a:p>
            <a:pPr marL="342900" marR="0" indent="0" hangingPunct="false" algn="l">
              <a:lnSpc>
                <a:spcPts val="1220"/>
              </a:lnSpc>
              <a:spcBef>
                <a:spcPts val="25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percepts by re-planning.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Rationality here is </a:t>
            </a:r>
            <a:r>
              <a:rPr lang="en-US" sz="1100" b="true" baseline="0" spc="-4">
                <a:solidFill>
                  <a:srgbClr val="000000"/>
                </a:solidFill>
                <a:latin typeface="Times New Roman"/>
              </a:rPr>
              <a:t>bounded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: the robot cannot be optimal over the whole unseen building, but it is optimal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with respect to its current knowledge and cost model, and it never takes an action it knows to be worse.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130"/>
              </a:spcBef>
              <a:spcAft>
                <a:spcPct val="0"/>
              </a:spcAft>
            </a:pPr>
            <a:r>
              <a:rPr lang="en-US" sz="1150" b="true" baseline="0" spc="16">
                <a:solidFill>
                  <a:srgbClr val="000000"/>
                </a:solidFill>
                <a:latin typeface="Times New Roman"/>
              </a:rPr>
              <a:t>(iii)​Environment type 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5010" y="4465320"/>
            <a:ext cx="6062980" cy="26365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="true" baseline="0" spc="7">
                <a:solidFill>
                  <a:srgbClr val="000000"/>
                </a:solidFill>
                <a:latin typeface="Times New Roman"/>
              </a:rPr>
              <a:t>d)​Justification of the chosen approach </a:t>
            </a:r>
            <a:endParaRPr lang="en-US" sz="1100"/>
          </a:p>
          <a:p>
            <a:pPr marL="171450" marR="0" indent="0" hangingPunct="false" algn="l">
              <a:lnSpc>
                <a:spcPts val="1220"/>
              </a:lnSpc>
              <a:spcBef>
                <a:spcPts val="659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Handles partial observability: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an online agent that interleaves sensing, planning and acting does not </a:t>
            </a:r>
          </a:p>
          <a:p>
            <a:pPr marL="342900" marR="0" indent="0" hangingPunct="false" algn="l">
              <a:lnSpc>
                <a:spcPts val="121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need the full map in advance, which an offline planner would require. </a:t>
            </a:r>
          </a:p>
          <a:p>
            <a:pPr marL="171450" marR="0" indent="0" hangingPunct="false" algn="l">
              <a:lnSpc>
                <a:spcPts val="1210"/>
              </a:lnSpc>
              <a:spcBef>
                <a:spcPts val="54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14">
                <a:solidFill>
                  <a:srgbClr val="000000"/>
                </a:solidFill>
                <a:latin typeface="Times New Roman"/>
              </a:rPr>
              <a:t> Handles non-uniform costs: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UCS / A* minimise the sum of step costs including the +2 risk penalty.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BFS only minimises the number of steps and may route through risky cells.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4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9">
                <a:solidFill>
                  <a:srgbClr val="000000"/>
                </a:solidFill>
                <a:latin typeface="Times New Roman"/>
              </a:rPr>
              <a:t> Optimal and complete on known information: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UCS / A* with an admissible heuristic (Manhattan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distance, as every step costs ≥ 1) guarantee the cheapest path on the known map, and re-planning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ensures the robot finishes if a safe path exists in a finite grid.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Efficient: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the Manhattan heuristic focuses the search toward the goal, which expands far fewer nodes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than plain UCS (as seen in Question 2: 9 vs 19 nodes). </a:t>
            </a:r>
          </a:p>
          <a:p>
            <a:pPr marL="171450" marR="0" indent="0" hangingPunct="false" algn="l">
              <a:lnSpc>
                <a:spcPts val="1220"/>
              </a:lnSpc>
              <a:spcBef>
                <a:spcPts val="540"/>
              </a:spcBef>
              <a:spcAft>
                <a:spcPct val="0"/>
              </a:spcAft>
            </a:pPr>
            <a:r>
              <a:rPr lang="en-US" sz="1100" baseline="0">
                <a:solidFill>
                  <a:srgbClr val="000000"/>
                </a:solidFill>
                <a:latin typeface="Times New Roman"/>
              </a:rPr>
              <a:t>•​</a:t>
            </a:r>
            <a:r>
              <a:rPr lang="en-US" sz="1100" b="true" baseline="0" spc="27">
                <a:solidFill>
                  <a:srgbClr val="000000"/>
                </a:solidFill>
                <a:latin typeface="Times New Roman"/>
              </a:rPr>
              <a:t> Adaptive and safe: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blocked cells get infinite cost and risky cells a high cost, so safety is part of the </a:t>
            </a:r>
          </a:p>
          <a:p>
            <a:pPr marL="34290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decision; new obstacles trigger re-planning rather than failure.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100" b="true" baseline="0" spc="7">
                <a:solidFill>
                  <a:srgbClr val="000000"/>
                </a:solidFill>
                <a:latin typeface="Times New Roman"/>
              </a:rPr>
              <a:t>Why not the alternatives? 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5010" y="9038590"/>
            <a:ext cx="6043930" cy="7086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0">
                <a:solidFill>
                  <a:srgbClr val="000000"/>
                </a:solidFill>
                <a:latin typeface="Times New Roman"/>
              </a:rPr>
              <a:t>Conclusion: </a:t>
            </a: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an online search agent that plans with Uniform Cost Search (accelerated with the admissible </a:t>
            </a:r>
            <a:endParaRPr lang="en-US" sz="1100"/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Manhattan heuristic as A*) and updates its map after each sensing step is the most suitable strategy. It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40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respects all hard constraints, minimises total cost including the risk penalty, copes with partial observability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baseline="0" spc="-27">
                <a:solidFill>
                  <a:srgbClr val="000000"/>
                </a:solidFill>
                <a:latin typeface="Times New Roman"/>
              </a:rPr>
              <a:t>and is rational with respect to the information available.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